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notesSlides/notesSlide9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629B6F-0173-1694-6A43-696733FD5235}" v="61" dt="2026-03-14T17:36:17.099"/>
    <p1510:client id="{849C5DCC-1C01-A35E-9179-F9A2E729418C}" v="3" vWet="3" dt="2026-03-14T17:36:41.575"/>
    <p1510:client id="{9D1AA3A4-AAE7-314C-8EE3-174900A9A43A}" v="23" dt="2026-03-14T17:36:46.7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5" d="100"/>
          <a:sy n="145" d="100"/>
        </p:scale>
        <p:origin x="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Response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BAB-9340-A75D-8F22EE6655D6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9BAB-9340-A75D-8F22EE6655D6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9BAB-9340-A75D-8F22EE6655D6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9BAB-9340-A75D-8F22EE6655D6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9BAB-9340-A75D-8F22EE6655D6}"/>
              </c:ext>
            </c:extLst>
          </c:dPt>
          <c:dPt>
            <c:idx val="5"/>
            <c:invertIfNegative val="0"/>
            <c:bubble3D val="0"/>
            <c:spPr>
              <a:solidFill>
                <a:srgbClr val="BA751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9BAB-9340-A75D-8F22EE6655D6}"/>
              </c:ext>
            </c:extLst>
          </c:dPt>
          <c:dPt>
            <c:idx val="6"/>
            <c:invertIfNegative val="0"/>
            <c:bubble3D val="0"/>
            <c:spPr>
              <a:solidFill>
                <a:srgbClr val="BA751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9BAB-9340-A75D-8F22EE6655D6}"/>
              </c:ext>
            </c:extLst>
          </c:dPt>
          <c:dPt>
            <c:idx val="7"/>
            <c:invertIfNegative val="0"/>
            <c:bubble3D val="0"/>
            <c:spPr>
              <a:solidFill>
                <a:srgbClr val="BA751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9BAB-9340-A75D-8F22EE6655D6}"/>
              </c:ext>
            </c:extLst>
          </c:dPt>
          <c:dPt>
            <c:idx val="8"/>
            <c:invertIfNegative val="0"/>
            <c:bubble3D val="0"/>
            <c:spPr>
              <a:solidFill>
                <a:srgbClr val="BA751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9BAB-9340-A75D-8F22EE6655D6}"/>
              </c:ext>
            </c:extLst>
          </c:dPt>
          <c:dPt>
            <c:idx val="9"/>
            <c:invertIfNegative val="0"/>
            <c:bubble3D val="0"/>
            <c:spPr>
              <a:solidFill>
                <a:srgbClr val="1D9E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9BAB-9340-A75D-8F22EE6655D6}"/>
              </c:ext>
            </c:extLst>
          </c:dPt>
          <c:dPt>
            <c:idx val="10"/>
            <c:invertIfNegative val="0"/>
            <c:bubble3D val="0"/>
            <c:spPr>
              <a:solidFill>
                <a:srgbClr val="1D9E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5-9BAB-9340-A75D-8F22EE6655D6}"/>
              </c:ext>
            </c:extLst>
          </c:dPt>
          <c:dPt>
            <c:idx val="11"/>
            <c:invertIfNegative val="0"/>
            <c:bubble3D val="0"/>
            <c:spPr>
              <a:solidFill>
                <a:srgbClr val="1D9E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7-9BAB-9340-A75D-8F22EE6655D6}"/>
              </c:ext>
            </c:extLst>
          </c:dPt>
          <c:dPt>
            <c:idx val="12"/>
            <c:invertIfNegative val="0"/>
            <c:bubble3D val="0"/>
            <c:spPr>
              <a:solidFill>
                <a:srgbClr val="1D9E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9-9BAB-9340-A75D-8F22EE6655D6}"/>
              </c:ext>
            </c:extLst>
          </c:dPt>
          <c:dPt>
            <c:idx val="13"/>
            <c:invertIfNegative val="0"/>
            <c:bubble3D val="0"/>
            <c:spPr>
              <a:solidFill>
                <a:srgbClr val="1D9E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B-9BAB-9340-A75D-8F22EE6655D6}"/>
              </c:ext>
            </c:extLst>
          </c:dPt>
          <c:dPt>
            <c:idx val="14"/>
            <c:invertIfNegative val="0"/>
            <c:bubble3D val="0"/>
            <c:spPr>
              <a:solidFill>
                <a:srgbClr val="1D9E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D-9BAB-9340-A75D-8F22EE6655D6}"/>
              </c:ext>
            </c:extLst>
          </c:dPt>
          <c:dPt>
            <c:idx val="15"/>
            <c:invertIfNegative val="0"/>
            <c:bubble3D val="0"/>
            <c:spPr>
              <a:solidFill>
                <a:srgbClr val="1D9E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F-9BAB-9340-A75D-8F22EE6655D6}"/>
              </c:ext>
            </c:extLst>
          </c:dPt>
          <c:dPt>
            <c:idx val="16"/>
            <c:invertIfNegative val="0"/>
            <c:bubble3D val="0"/>
            <c:spPr>
              <a:solidFill>
                <a:srgbClr val="1D9E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1-9BAB-9340-A75D-8F22EE6655D6}"/>
              </c:ext>
            </c:extLst>
          </c:dPt>
          <c:dPt>
            <c:idx val="17"/>
            <c:invertIfNegative val="0"/>
            <c:bubble3D val="0"/>
            <c:spPr>
              <a:solidFill>
                <a:srgbClr val="1D9E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3-9BAB-9340-A75D-8F22EE6655D6}"/>
              </c:ext>
            </c:extLst>
          </c:dPt>
          <c:dPt>
            <c:idx val="18"/>
            <c:invertIfNegative val="0"/>
            <c:bubble3D val="0"/>
            <c:spPr>
              <a:solidFill>
                <a:srgbClr val="1D9E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5-9BAB-9340-A75D-8F22EE6655D6}"/>
              </c:ext>
            </c:extLst>
          </c:dPt>
          <c:dPt>
            <c:idx val="19"/>
            <c:invertIfNegative val="0"/>
            <c:bubble3D val="0"/>
            <c:spPr>
              <a:solidFill>
                <a:srgbClr val="1D9E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7-9BAB-9340-A75D-8F22EE6655D6}"/>
              </c:ext>
            </c:extLst>
          </c:dPt>
          <c:dPt>
            <c:idx val="20"/>
            <c:invertIfNegative val="0"/>
            <c:bubble3D val="0"/>
            <c:spPr>
              <a:solidFill>
                <a:srgbClr val="1D9E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9-9BAB-9340-A75D-8F22EE6655D6}"/>
              </c:ext>
            </c:extLst>
          </c:dPt>
          <c:cat>
            <c:strRef>
              <c:f>Sheet1!$A$2:$A$22</c:f>
              <c:strCache>
                <c:ptCount val="21"/>
                <c:pt idx="0">
                  <c:v>Kilo</c:v>
                </c:pt>
                <c:pt idx="1">
                  <c:v>Quebec</c:v>
                </c:pt>
                <c:pt idx="2">
                  <c:v>Golf</c:v>
                </c:pt>
                <c:pt idx="3">
                  <c:v>India</c:v>
                </c:pt>
                <c:pt idx="4">
                  <c:v>Sierra</c:v>
                </c:pt>
                <c:pt idx="5">
                  <c:v>Victor</c:v>
                </c:pt>
                <c:pt idx="6">
                  <c:v>Tango</c:v>
                </c:pt>
                <c:pt idx="7">
                  <c:v>Papa</c:v>
                </c:pt>
                <c:pt idx="8">
                  <c:v>Romeo</c:v>
                </c:pt>
                <c:pt idx="9">
                  <c:v>Alfa</c:v>
                </c:pt>
                <c:pt idx="10">
                  <c:v>Mike</c:v>
                </c:pt>
                <c:pt idx="11">
                  <c:v>Hotel</c:v>
                </c:pt>
                <c:pt idx="12">
                  <c:v>November</c:v>
                </c:pt>
                <c:pt idx="13">
                  <c:v>Juliett</c:v>
                </c:pt>
                <c:pt idx="14">
                  <c:v>Whiskey</c:v>
                </c:pt>
                <c:pt idx="15">
                  <c:v>Bravo</c:v>
                </c:pt>
                <c:pt idx="16">
                  <c:v>Foxtrot</c:v>
                </c:pt>
                <c:pt idx="17">
                  <c:v>Lima</c:v>
                </c:pt>
                <c:pt idx="18">
                  <c:v>Oscar</c:v>
                </c:pt>
                <c:pt idx="19">
                  <c:v>Uniform</c:v>
                </c:pt>
                <c:pt idx="20">
                  <c:v>Echo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73.400000000000006</c:v>
                </c:pt>
                <c:pt idx="1">
                  <c:v>30.4</c:v>
                </c:pt>
                <c:pt idx="2">
                  <c:v>31</c:v>
                </c:pt>
                <c:pt idx="3">
                  <c:v>35.4</c:v>
                </c:pt>
                <c:pt idx="4">
                  <c:v>40.4</c:v>
                </c:pt>
                <c:pt idx="5">
                  <c:v>26.2</c:v>
                </c:pt>
                <c:pt idx="6">
                  <c:v>23.2</c:v>
                </c:pt>
                <c:pt idx="7">
                  <c:v>21.1</c:v>
                </c:pt>
                <c:pt idx="8">
                  <c:v>20.100000000000001</c:v>
                </c:pt>
                <c:pt idx="9">
                  <c:v>19.3</c:v>
                </c:pt>
                <c:pt idx="10">
                  <c:v>18.7</c:v>
                </c:pt>
                <c:pt idx="11">
                  <c:v>18.399999999999999</c:v>
                </c:pt>
                <c:pt idx="12">
                  <c:v>17.8</c:v>
                </c:pt>
                <c:pt idx="13">
                  <c:v>17.7</c:v>
                </c:pt>
                <c:pt idx="14">
                  <c:v>17.600000000000001</c:v>
                </c:pt>
                <c:pt idx="15">
                  <c:v>16.600000000000001</c:v>
                </c:pt>
                <c:pt idx="16">
                  <c:v>16.600000000000001</c:v>
                </c:pt>
                <c:pt idx="17">
                  <c:v>16.2</c:v>
                </c:pt>
                <c:pt idx="18">
                  <c:v>15.8</c:v>
                </c:pt>
                <c:pt idx="19">
                  <c:v>15.5</c:v>
                </c:pt>
                <c:pt idx="20">
                  <c:v>15.3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A-9BAB-9340-A75D-8F22EE6655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D0D8E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b"/>
        <c:majorGridlines>
          <c:spPr>
            <a:ln w="3810" cap="flat">
              <a:solidFill>
                <a:srgbClr val="253A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7FA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F1A2E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F1A2E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Calls</c:v>
                </c:pt>
              </c:strCache>
            </c:strRef>
          </c:tx>
          <c:spPr>
            <a:solidFill>
              <a:srgbClr val="378ADD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FE0-3D46-A9DD-3FBACF8E5525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6FE0-3D46-A9DD-3FBACF8E5525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6FE0-3D46-A9DD-3FBACF8E5525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6FE0-3D46-A9DD-3FBACF8E5525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6FE0-3D46-A9DD-3FBACF8E5525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6FE0-3D46-A9DD-3FBACF8E5525}"/>
              </c:ext>
            </c:extLst>
          </c:dPt>
          <c:dPt>
            <c:idx val="6"/>
            <c:invertIfNegative val="0"/>
            <c:bubble3D val="0"/>
            <c:spPr>
              <a:solidFill>
                <a:srgbClr val="BA751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6FE0-3D46-A9DD-3FBACF8E5525}"/>
              </c:ext>
            </c:extLst>
          </c:dPt>
          <c:dPt>
            <c:idx val="7"/>
            <c:invertIfNegative val="0"/>
            <c:bubble3D val="0"/>
            <c:spPr>
              <a:solidFill>
                <a:srgbClr val="BA751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6FE0-3D46-A9DD-3FBACF8E5525}"/>
              </c:ext>
            </c:extLst>
          </c:dPt>
          <c:dPt>
            <c:idx val="8"/>
            <c:invertIfNegative val="0"/>
            <c:bubble3D val="0"/>
            <c:spPr>
              <a:solidFill>
                <a:srgbClr val="BA751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6FE0-3D46-A9DD-3FBACF8E5525}"/>
              </c:ext>
            </c:extLst>
          </c:dPt>
          <c:dPt>
            <c:idx val="9"/>
            <c:invertIfNegative val="0"/>
            <c:bubble3D val="0"/>
            <c:spPr>
              <a:solidFill>
                <a:srgbClr val="BA751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6FE0-3D46-A9DD-3FBACF8E5525}"/>
              </c:ext>
            </c:extLst>
          </c:dPt>
          <c:dPt>
            <c:idx val="10"/>
            <c:invertIfNegative val="0"/>
            <c:bubble3D val="0"/>
            <c:spPr>
              <a:solidFill>
                <a:srgbClr val="BA751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5-6FE0-3D46-A9DD-3FBACF8E5525}"/>
              </c:ext>
            </c:extLst>
          </c:dPt>
          <c:dPt>
            <c:idx val="1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7-6FE0-3D46-A9DD-3FBACF8E5525}"/>
              </c:ext>
            </c:extLst>
          </c:dPt>
          <c:cat>
            <c:strRef>
              <c:f>Sheet1!$A$2:$A$13</c:f>
              <c:strCache>
                <c:ptCount val="12"/>
                <c:pt idx="0">
                  <c:v>0</c:v>
                </c:pt>
                <c:pt idx="1">
                  <c:v>2</c:v>
                </c:pt>
                <c:pt idx="2">
                  <c:v>4</c:v>
                </c:pt>
                <c:pt idx="3">
                  <c:v>6</c:v>
                </c:pt>
                <c:pt idx="4">
                  <c:v>8</c:v>
                </c:pt>
                <c:pt idx="5">
                  <c:v>10</c:v>
                </c:pt>
                <c:pt idx="6">
                  <c:v>12</c:v>
                </c:pt>
                <c:pt idx="7">
                  <c:v>14</c:v>
                </c:pt>
                <c:pt idx="8">
                  <c:v>16</c:v>
                </c:pt>
                <c:pt idx="9">
                  <c:v>18</c:v>
                </c:pt>
                <c:pt idx="10">
                  <c:v>20</c:v>
                </c:pt>
                <c:pt idx="11">
                  <c:v>22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99</c:v>
                </c:pt>
                <c:pt idx="1">
                  <c:v>69</c:v>
                </c:pt>
                <c:pt idx="2">
                  <c:v>57</c:v>
                </c:pt>
                <c:pt idx="3">
                  <c:v>96</c:v>
                </c:pt>
                <c:pt idx="4">
                  <c:v>55</c:v>
                </c:pt>
                <c:pt idx="5">
                  <c:v>151</c:v>
                </c:pt>
                <c:pt idx="6">
                  <c:v>210</c:v>
                </c:pt>
                <c:pt idx="7">
                  <c:v>216</c:v>
                </c:pt>
                <c:pt idx="8">
                  <c:v>194</c:v>
                </c:pt>
                <c:pt idx="9">
                  <c:v>188</c:v>
                </c:pt>
                <c:pt idx="10">
                  <c:v>169</c:v>
                </c:pt>
                <c:pt idx="11">
                  <c:v>145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6FE0-3D46-A9DD-3FBACF8E55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7FA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3810" cap="flat">
              <a:solidFill>
                <a:srgbClr val="253A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7FA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F1A2E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F1A2E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Calls</c:v>
                </c:pt>
              </c:strCache>
            </c:strRef>
          </c:tx>
          <c:spPr>
            <a:solidFill>
              <a:srgbClr val="1D9E75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269-1B41-A2A3-F8ECC012E1CB}"/>
              </c:ext>
            </c:extLst>
          </c:dPt>
          <c:dPt>
            <c:idx val="1"/>
            <c:invertIfNegative val="0"/>
            <c:bubble3D val="0"/>
            <c:spPr>
              <a:solidFill>
                <a:srgbClr val="BA751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269-1B41-A2A3-F8ECC012E1CB}"/>
              </c:ext>
            </c:extLst>
          </c:dPt>
          <c:dPt>
            <c:idx val="2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269-1B41-A2A3-F8ECC012E1CB}"/>
              </c:ext>
            </c:extLst>
          </c:dPt>
          <c:dPt>
            <c:idx val="3"/>
            <c:invertIfNegative val="0"/>
            <c:bubble3D val="0"/>
            <c:spPr>
              <a:solidFill>
                <a:srgbClr val="BA751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269-1B41-A2A3-F8ECC012E1CB}"/>
              </c:ext>
            </c:extLst>
          </c:dPt>
          <c:dPt>
            <c:idx val="4"/>
            <c:invertIfNegative val="0"/>
            <c:bubble3D val="0"/>
            <c:spPr>
              <a:solidFill>
                <a:srgbClr val="BA751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269-1B41-A2A3-F8ECC012E1CB}"/>
              </c:ext>
            </c:extLst>
          </c:dPt>
          <c:dPt>
            <c:idx val="5"/>
            <c:invertIfNegative val="0"/>
            <c:bubble3D val="0"/>
            <c:spPr>
              <a:solidFill>
                <a:srgbClr val="BA751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E269-1B41-A2A3-F8ECC012E1CB}"/>
              </c:ext>
            </c:extLst>
          </c:dPt>
          <c:dPt>
            <c:idx val="6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E269-1B41-A2A3-F8ECC012E1CB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F-E269-1B41-A2A3-F8ECC012E1CB}"/>
              </c:ext>
            </c:extLst>
          </c:dPt>
          <c:dPt>
            <c:idx val="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1-E269-1B41-A2A3-F8ECC012E1CB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3-E269-1B41-A2A3-F8ECC012E1CB}"/>
              </c:ext>
            </c:extLst>
          </c:dPt>
          <c:dPt>
            <c:idx val="1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5-E269-1B41-A2A3-F8ECC012E1CB}"/>
              </c:ext>
            </c:extLst>
          </c:dPt>
          <c:dPt>
            <c:idx val="1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7-E269-1B41-A2A3-F8ECC012E1CB}"/>
              </c:ext>
            </c:extLst>
          </c:dPt>
          <c:dPt>
            <c:idx val="12"/>
            <c:invertIfNegative val="0"/>
            <c:bubble3D val="0"/>
            <c:spPr>
              <a:solidFill>
                <a:srgbClr val="BA751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9-E269-1B41-A2A3-F8ECC012E1CB}"/>
              </c:ext>
            </c:extLst>
          </c:dPt>
          <c:dPt>
            <c:idx val="13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B-E269-1B41-A2A3-F8ECC012E1CB}"/>
              </c:ext>
            </c:extLst>
          </c:dPt>
          <c:dPt>
            <c:idx val="1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D-E269-1B41-A2A3-F8ECC012E1CB}"/>
              </c:ext>
            </c:extLst>
          </c:dPt>
          <c:dPt>
            <c:idx val="15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F-E269-1B41-A2A3-F8ECC012E1CB}"/>
              </c:ext>
            </c:extLst>
          </c:dPt>
          <c:dPt>
            <c:idx val="16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1-E269-1B41-A2A3-F8ECC012E1CB}"/>
              </c:ext>
            </c:extLst>
          </c:dPt>
          <c:dPt>
            <c:idx val="1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23-E269-1B41-A2A3-F8ECC012E1CB}"/>
              </c:ext>
            </c:extLst>
          </c:dPt>
          <c:dPt>
            <c:idx val="1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25-E269-1B41-A2A3-F8ECC012E1CB}"/>
              </c:ext>
            </c:extLst>
          </c:dPt>
          <c:dPt>
            <c:idx val="1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27-E269-1B41-A2A3-F8ECC012E1CB}"/>
              </c:ext>
            </c:extLst>
          </c:dPt>
          <c:dPt>
            <c:idx val="20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9-E269-1B41-A2A3-F8ECC012E1C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6B7FA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Sheet1!$A$2:$A$22</c:f>
              <c:strCache>
                <c:ptCount val="21"/>
                <c:pt idx="0">
                  <c:v>Lima</c:v>
                </c:pt>
                <c:pt idx="1">
                  <c:v>Foxtrot</c:v>
                </c:pt>
                <c:pt idx="2">
                  <c:v>Whiskey</c:v>
                </c:pt>
                <c:pt idx="3">
                  <c:v>Juliett</c:v>
                </c:pt>
                <c:pt idx="4">
                  <c:v>Mike</c:v>
                </c:pt>
                <c:pt idx="5">
                  <c:v>Golf</c:v>
                </c:pt>
                <c:pt idx="6">
                  <c:v>Victor</c:v>
                </c:pt>
                <c:pt idx="7">
                  <c:v>Papa</c:v>
                </c:pt>
                <c:pt idx="8">
                  <c:v>India</c:v>
                </c:pt>
                <c:pt idx="9">
                  <c:v>Oscar</c:v>
                </c:pt>
                <c:pt idx="10">
                  <c:v>Hotel</c:v>
                </c:pt>
                <c:pt idx="11">
                  <c:v>Tango</c:v>
                </c:pt>
                <c:pt idx="12">
                  <c:v>Sierra</c:v>
                </c:pt>
                <c:pt idx="13">
                  <c:v>Alfa</c:v>
                </c:pt>
                <c:pt idx="14">
                  <c:v>Bravo</c:v>
                </c:pt>
                <c:pt idx="15">
                  <c:v>November</c:v>
                </c:pt>
                <c:pt idx="16">
                  <c:v>Kilo</c:v>
                </c:pt>
                <c:pt idx="17">
                  <c:v>Echo</c:v>
                </c:pt>
                <c:pt idx="18">
                  <c:v>Uniform</c:v>
                </c:pt>
                <c:pt idx="19">
                  <c:v>Quebec</c:v>
                </c:pt>
                <c:pt idx="20">
                  <c:v>Romeo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272</c:v>
                </c:pt>
                <c:pt idx="1">
                  <c:v>267</c:v>
                </c:pt>
                <c:pt idx="2">
                  <c:v>176</c:v>
                </c:pt>
                <c:pt idx="3">
                  <c:v>164</c:v>
                </c:pt>
                <c:pt idx="4">
                  <c:v>134</c:v>
                </c:pt>
                <c:pt idx="5">
                  <c:v>89</c:v>
                </c:pt>
                <c:pt idx="6">
                  <c:v>85</c:v>
                </c:pt>
                <c:pt idx="7">
                  <c:v>67</c:v>
                </c:pt>
                <c:pt idx="8">
                  <c:v>65</c:v>
                </c:pt>
                <c:pt idx="9">
                  <c:v>57</c:v>
                </c:pt>
                <c:pt idx="10">
                  <c:v>55</c:v>
                </c:pt>
                <c:pt idx="11">
                  <c:v>55</c:v>
                </c:pt>
                <c:pt idx="12">
                  <c:v>46</c:v>
                </c:pt>
                <c:pt idx="13">
                  <c:v>42</c:v>
                </c:pt>
                <c:pt idx="14">
                  <c:v>40</c:v>
                </c:pt>
                <c:pt idx="15">
                  <c:v>38</c:v>
                </c:pt>
                <c:pt idx="16">
                  <c:v>36</c:v>
                </c:pt>
                <c:pt idx="17">
                  <c:v>26</c:v>
                </c:pt>
                <c:pt idx="18">
                  <c:v>11</c:v>
                </c:pt>
                <c:pt idx="19">
                  <c:v>6</c:v>
                </c:pt>
                <c:pt idx="2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A-E269-1B41-A2A3-F8ECC012E1C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D0D8E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3810" cap="flat">
              <a:solidFill>
                <a:srgbClr val="253A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6B7FA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F1A2E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F1A2E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Utilisation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069-4C4C-B7A0-40074593D51F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F069-4C4C-B7A0-40074593D51F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F069-4C4C-B7A0-40074593D51F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F069-4C4C-B7A0-40074593D51F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F069-4C4C-B7A0-40074593D51F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F069-4C4C-B7A0-40074593D51F}"/>
              </c:ext>
            </c:extLst>
          </c:dPt>
          <c:dPt>
            <c:idx val="6"/>
            <c:invertIfNegative val="0"/>
            <c:bubble3D val="0"/>
            <c:spPr>
              <a:solidFill>
                <a:srgbClr val="BA751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F069-4C4C-B7A0-40074593D51F}"/>
              </c:ext>
            </c:extLst>
          </c:dPt>
          <c:dPt>
            <c:idx val="7"/>
            <c:invertIfNegative val="0"/>
            <c:bubble3D val="0"/>
            <c:spPr>
              <a:solidFill>
                <a:srgbClr val="BA751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F069-4C4C-B7A0-40074593D51F}"/>
              </c:ext>
            </c:extLst>
          </c:dPt>
          <c:dPt>
            <c:idx val="8"/>
            <c:invertIfNegative val="0"/>
            <c:bubble3D val="0"/>
            <c:spPr>
              <a:solidFill>
                <a:srgbClr val="BA751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F069-4C4C-B7A0-40074593D51F}"/>
              </c:ext>
            </c:extLst>
          </c:dPt>
          <c:dPt>
            <c:idx val="9"/>
            <c:invertIfNegative val="0"/>
            <c:bubble3D val="0"/>
            <c:spPr>
              <a:solidFill>
                <a:srgbClr val="BA751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F069-4C4C-B7A0-40074593D51F}"/>
              </c:ext>
            </c:extLst>
          </c:dPt>
          <c:dPt>
            <c:idx val="10"/>
            <c:invertIfNegative val="0"/>
            <c:bubble3D val="0"/>
            <c:spPr>
              <a:solidFill>
                <a:srgbClr val="BA751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5-F069-4C4C-B7A0-40074593D51F}"/>
              </c:ext>
            </c:extLst>
          </c:dPt>
          <c:dPt>
            <c:idx val="11"/>
            <c:invertIfNegative val="0"/>
            <c:bubble3D val="0"/>
            <c:spPr>
              <a:solidFill>
                <a:srgbClr val="1D9E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7-F069-4C4C-B7A0-40074593D51F}"/>
              </c:ext>
            </c:extLst>
          </c:dPt>
          <c:dPt>
            <c:idx val="12"/>
            <c:invertIfNegative val="0"/>
            <c:bubble3D val="0"/>
            <c:spPr>
              <a:solidFill>
                <a:srgbClr val="1D9E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9-F069-4C4C-B7A0-40074593D51F}"/>
              </c:ext>
            </c:extLst>
          </c:dPt>
          <c:dPt>
            <c:idx val="13"/>
            <c:invertIfNegative val="0"/>
            <c:bubble3D val="0"/>
            <c:spPr>
              <a:solidFill>
                <a:srgbClr val="1D9E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B-F069-4C4C-B7A0-40074593D51F}"/>
              </c:ext>
            </c:extLst>
          </c:dPt>
          <c:dPt>
            <c:idx val="14"/>
            <c:invertIfNegative val="0"/>
            <c:bubble3D val="0"/>
            <c:spPr>
              <a:solidFill>
                <a:srgbClr val="1D9E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D-F069-4C4C-B7A0-40074593D51F}"/>
              </c:ext>
            </c:extLst>
          </c:dPt>
          <c:dPt>
            <c:idx val="15"/>
            <c:invertIfNegative val="0"/>
            <c:bubble3D val="0"/>
            <c:spPr>
              <a:solidFill>
                <a:srgbClr val="1D9E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F-F069-4C4C-B7A0-40074593D51F}"/>
              </c:ext>
            </c:extLst>
          </c:dPt>
          <c:dPt>
            <c:idx val="16"/>
            <c:invertIfNegative val="0"/>
            <c:bubble3D val="0"/>
            <c:spPr>
              <a:solidFill>
                <a:srgbClr val="1D9E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1-F069-4C4C-B7A0-40074593D51F}"/>
              </c:ext>
            </c:extLst>
          </c:dPt>
          <c:dPt>
            <c:idx val="17"/>
            <c:invertIfNegative val="0"/>
            <c:bubble3D val="0"/>
            <c:spPr>
              <a:solidFill>
                <a:srgbClr val="1D9E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3-F069-4C4C-B7A0-40074593D51F}"/>
              </c:ext>
            </c:extLst>
          </c:dPt>
          <c:dPt>
            <c:idx val="18"/>
            <c:invertIfNegative val="0"/>
            <c:bubble3D val="0"/>
            <c:spPr>
              <a:solidFill>
                <a:srgbClr val="1D9E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5-F069-4C4C-B7A0-40074593D51F}"/>
              </c:ext>
            </c:extLst>
          </c:dPt>
          <c:dPt>
            <c:idx val="19"/>
            <c:invertIfNegative val="0"/>
            <c:bubble3D val="0"/>
            <c:spPr>
              <a:solidFill>
                <a:srgbClr val="1D9E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7-F069-4C4C-B7A0-40074593D51F}"/>
              </c:ext>
            </c:extLst>
          </c:dPt>
          <c:dPt>
            <c:idx val="20"/>
            <c:invertIfNegative val="0"/>
            <c:bubble3D val="0"/>
            <c:spPr>
              <a:solidFill>
                <a:srgbClr val="1D9E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9-F069-4C4C-B7A0-40074593D51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6B7FA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Sheet1!$A$2:$A$22</c:f>
              <c:strCache>
                <c:ptCount val="21"/>
                <c:pt idx="0">
                  <c:v>Alfa</c:v>
                </c:pt>
                <c:pt idx="1">
                  <c:v>Kilo</c:v>
                </c:pt>
                <c:pt idx="2">
                  <c:v>November</c:v>
                </c:pt>
                <c:pt idx="3">
                  <c:v>Whiskey</c:v>
                </c:pt>
                <c:pt idx="4">
                  <c:v>Victor</c:v>
                </c:pt>
                <c:pt idx="5">
                  <c:v>Romeo</c:v>
                </c:pt>
                <c:pt idx="6">
                  <c:v>Sierra</c:v>
                </c:pt>
                <c:pt idx="7">
                  <c:v>Juliett</c:v>
                </c:pt>
                <c:pt idx="8">
                  <c:v>Golf</c:v>
                </c:pt>
                <c:pt idx="9">
                  <c:v>Mike</c:v>
                </c:pt>
                <c:pt idx="10">
                  <c:v>Foxtrot</c:v>
                </c:pt>
                <c:pt idx="11">
                  <c:v>India</c:v>
                </c:pt>
                <c:pt idx="12">
                  <c:v>Quebec</c:v>
                </c:pt>
                <c:pt idx="13">
                  <c:v>Tango</c:v>
                </c:pt>
                <c:pt idx="14">
                  <c:v>Echo</c:v>
                </c:pt>
                <c:pt idx="15">
                  <c:v>Hotel</c:v>
                </c:pt>
                <c:pt idx="16">
                  <c:v>Uniform</c:v>
                </c:pt>
                <c:pt idx="17">
                  <c:v>Oscar</c:v>
                </c:pt>
                <c:pt idx="18">
                  <c:v>Lima</c:v>
                </c:pt>
                <c:pt idx="19">
                  <c:v>Papa</c:v>
                </c:pt>
                <c:pt idx="20">
                  <c:v>Bravo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40.9</c:v>
                </c:pt>
                <c:pt idx="1">
                  <c:v>40.6</c:v>
                </c:pt>
                <c:pt idx="2">
                  <c:v>31.6</c:v>
                </c:pt>
                <c:pt idx="3">
                  <c:v>31.5</c:v>
                </c:pt>
                <c:pt idx="4">
                  <c:v>31.5</c:v>
                </c:pt>
                <c:pt idx="5">
                  <c:v>30.2</c:v>
                </c:pt>
                <c:pt idx="6">
                  <c:v>29.9</c:v>
                </c:pt>
                <c:pt idx="7">
                  <c:v>29.6</c:v>
                </c:pt>
                <c:pt idx="8">
                  <c:v>28</c:v>
                </c:pt>
                <c:pt idx="9">
                  <c:v>24.7</c:v>
                </c:pt>
                <c:pt idx="10">
                  <c:v>24.1</c:v>
                </c:pt>
                <c:pt idx="11">
                  <c:v>23.6</c:v>
                </c:pt>
                <c:pt idx="12">
                  <c:v>23.2</c:v>
                </c:pt>
                <c:pt idx="13">
                  <c:v>21.2</c:v>
                </c:pt>
                <c:pt idx="14">
                  <c:v>21.2</c:v>
                </c:pt>
                <c:pt idx="15">
                  <c:v>21.1</c:v>
                </c:pt>
                <c:pt idx="16">
                  <c:v>18.899999999999999</c:v>
                </c:pt>
                <c:pt idx="17">
                  <c:v>18</c:v>
                </c:pt>
                <c:pt idx="18">
                  <c:v>17.2</c:v>
                </c:pt>
                <c:pt idx="19">
                  <c:v>14.7</c:v>
                </c:pt>
                <c:pt idx="20">
                  <c:v>8.1999999999999993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A-F069-4C4C-B7A0-40074593D51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D0D8E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b"/>
        <c:majorGridlines>
          <c:spPr>
            <a:ln w="3810" cap="flat">
              <a:solidFill>
                <a:srgbClr val="253A55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6B7FA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F1A2E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F1A2E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Violated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422-E54D-B337-AF7335344C2E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C422-E54D-B337-AF7335344C2E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C422-E54D-B337-AF7335344C2E}"/>
              </c:ext>
            </c:extLst>
          </c:dPt>
          <c:dPt>
            <c:idx val="3"/>
            <c:invertIfNegative val="0"/>
            <c:bubble3D val="0"/>
            <c:spPr>
              <a:solidFill>
                <a:srgbClr val="BA751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422-E54D-B337-AF7335344C2E}"/>
              </c:ext>
            </c:extLst>
          </c:dPt>
          <c:dPt>
            <c:idx val="4"/>
            <c:invertIfNegative val="0"/>
            <c:bubble3D val="0"/>
            <c:spPr>
              <a:solidFill>
                <a:srgbClr val="BA751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C422-E54D-B337-AF7335344C2E}"/>
              </c:ext>
            </c:extLst>
          </c:dPt>
          <c:dPt>
            <c:idx val="5"/>
            <c:invertIfNegative val="0"/>
            <c:bubble3D val="0"/>
            <c:spPr>
              <a:solidFill>
                <a:srgbClr val="BA751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C422-E54D-B337-AF7335344C2E}"/>
              </c:ext>
            </c:extLst>
          </c:dPt>
          <c:dPt>
            <c:idx val="6"/>
            <c:invertIfNegative val="0"/>
            <c:bubble3D val="0"/>
            <c:spPr>
              <a:solidFill>
                <a:srgbClr val="BA751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C422-E54D-B337-AF7335344C2E}"/>
              </c:ext>
            </c:extLst>
          </c:dPt>
          <c:dPt>
            <c:idx val="7"/>
            <c:invertIfNegative val="0"/>
            <c:bubble3D val="0"/>
            <c:spPr>
              <a:solidFill>
                <a:srgbClr val="BA751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C422-E54D-B337-AF7335344C2E}"/>
              </c:ext>
            </c:extLst>
          </c:dPt>
          <c:dPt>
            <c:idx val="8"/>
            <c:invertIfNegative val="0"/>
            <c:bubble3D val="0"/>
            <c:spPr>
              <a:solidFill>
                <a:srgbClr val="BA751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C422-E54D-B337-AF7335344C2E}"/>
              </c:ext>
            </c:extLst>
          </c:dPt>
          <c:dPt>
            <c:idx val="9"/>
            <c:invertIfNegative val="0"/>
            <c:bubble3D val="0"/>
            <c:spPr>
              <a:solidFill>
                <a:srgbClr val="BA751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C422-E54D-B337-AF7335344C2E}"/>
              </c:ext>
            </c:extLst>
          </c:dPt>
          <c:dPt>
            <c:idx val="10"/>
            <c:invertIfNegative val="0"/>
            <c:bubble3D val="0"/>
            <c:spPr>
              <a:solidFill>
                <a:srgbClr val="BA751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5-C422-E54D-B337-AF7335344C2E}"/>
              </c:ext>
            </c:extLst>
          </c:dPt>
          <c:dPt>
            <c:idx val="11"/>
            <c:invertIfNegative val="0"/>
            <c:bubble3D val="0"/>
            <c:spPr>
              <a:solidFill>
                <a:srgbClr val="1D9E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7-C422-E54D-B337-AF7335344C2E}"/>
              </c:ext>
            </c:extLst>
          </c:dPt>
          <c:dPt>
            <c:idx val="12"/>
            <c:invertIfNegative val="0"/>
            <c:bubble3D val="0"/>
            <c:spPr>
              <a:solidFill>
                <a:srgbClr val="1D9E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9-C422-E54D-B337-AF7335344C2E}"/>
              </c:ext>
            </c:extLst>
          </c:dPt>
          <c:dPt>
            <c:idx val="13"/>
            <c:invertIfNegative val="0"/>
            <c:bubble3D val="0"/>
            <c:spPr>
              <a:solidFill>
                <a:srgbClr val="1D9E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B-C422-E54D-B337-AF7335344C2E}"/>
              </c:ext>
            </c:extLst>
          </c:dPt>
          <c:dPt>
            <c:idx val="14"/>
            <c:invertIfNegative val="0"/>
            <c:bubble3D val="0"/>
            <c:spPr>
              <a:solidFill>
                <a:srgbClr val="1D9E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D-C422-E54D-B337-AF7335344C2E}"/>
              </c:ext>
            </c:extLst>
          </c:dPt>
          <c:dPt>
            <c:idx val="15"/>
            <c:invertIfNegative val="0"/>
            <c:bubble3D val="0"/>
            <c:spPr>
              <a:solidFill>
                <a:srgbClr val="1D9E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F-C422-E54D-B337-AF7335344C2E}"/>
              </c:ext>
            </c:extLst>
          </c:dPt>
          <c:dPt>
            <c:idx val="16"/>
            <c:invertIfNegative val="0"/>
            <c:bubble3D val="0"/>
            <c:spPr>
              <a:solidFill>
                <a:srgbClr val="1D9E7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1-C422-E54D-B337-AF7335344C2E}"/>
              </c:ext>
            </c:extLst>
          </c:dPt>
          <c:dPt>
            <c:idx val="17"/>
            <c:invertIfNegative val="0"/>
            <c:bubble3D val="0"/>
            <c:spPr>
              <a:solidFill>
                <a:srgbClr val="3A3A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3-C422-E54D-B337-AF7335344C2E}"/>
              </c:ext>
            </c:extLst>
          </c:dPt>
          <c:dPt>
            <c:idx val="18"/>
            <c:invertIfNegative val="0"/>
            <c:bubble3D val="0"/>
            <c:spPr>
              <a:solidFill>
                <a:srgbClr val="3A3A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5-C422-E54D-B337-AF7335344C2E}"/>
              </c:ext>
            </c:extLst>
          </c:dPt>
          <c:dPt>
            <c:idx val="19"/>
            <c:invertIfNegative val="0"/>
            <c:bubble3D val="0"/>
            <c:spPr>
              <a:solidFill>
                <a:srgbClr val="3A3A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7-C422-E54D-B337-AF7335344C2E}"/>
              </c:ext>
            </c:extLst>
          </c:dPt>
          <c:dPt>
            <c:idx val="20"/>
            <c:invertIfNegative val="0"/>
            <c:bubble3D val="0"/>
            <c:spPr>
              <a:solidFill>
                <a:srgbClr val="3A3A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9-C422-E54D-B337-AF7335344C2E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AAAAA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Sheet1!$A$2:$A$22</c:f>
              <c:strCache>
                <c:ptCount val="21"/>
                <c:pt idx="0">
                  <c:v>Kilo</c:v>
                </c:pt>
                <c:pt idx="1">
                  <c:v>Whiskey</c:v>
                </c:pt>
                <c:pt idx="2">
                  <c:v>Juliett</c:v>
                </c:pt>
                <c:pt idx="3">
                  <c:v>Alfa</c:v>
                </c:pt>
                <c:pt idx="4">
                  <c:v>Victor</c:v>
                </c:pt>
                <c:pt idx="5">
                  <c:v>Golf</c:v>
                </c:pt>
                <c:pt idx="6">
                  <c:v>Foxtrot</c:v>
                </c:pt>
                <c:pt idx="7">
                  <c:v>November</c:v>
                </c:pt>
                <c:pt idx="8">
                  <c:v>Mike</c:v>
                </c:pt>
                <c:pt idx="9">
                  <c:v>Oscar</c:v>
                </c:pt>
                <c:pt idx="10">
                  <c:v>Sierra</c:v>
                </c:pt>
                <c:pt idx="11">
                  <c:v>Quebec</c:v>
                </c:pt>
                <c:pt idx="12">
                  <c:v>India</c:v>
                </c:pt>
                <c:pt idx="13">
                  <c:v>Lima</c:v>
                </c:pt>
                <c:pt idx="14">
                  <c:v>Hotel</c:v>
                </c:pt>
                <c:pt idx="15">
                  <c:v>Tango</c:v>
                </c:pt>
                <c:pt idx="16">
                  <c:v>Papa</c:v>
                </c:pt>
                <c:pt idx="17">
                  <c:v>Echo</c:v>
                </c:pt>
                <c:pt idx="18">
                  <c:v>Bravo</c:v>
                </c:pt>
                <c:pt idx="19">
                  <c:v>Uniform</c:v>
                </c:pt>
                <c:pt idx="20">
                  <c:v>Romeo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21.38</c:v>
                </c:pt>
                <c:pt idx="1">
                  <c:v>12.67</c:v>
                </c:pt>
                <c:pt idx="2">
                  <c:v>10.27</c:v>
                </c:pt>
                <c:pt idx="3">
                  <c:v>9.6999999999999993</c:v>
                </c:pt>
                <c:pt idx="4">
                  <c:v>9.43</c:v>
                </c:pt>
                <c:pt idx="5">
                  <c:v>9.2100000000000009</c:v>
                </c:pt>
                <c:pt idx="6">
                  <c:v>8.8800000000000008</c:v>
                </c:pt>
                <c:pt idx="7">
                  <c:v>8.4600000000000009</c:v>
                </c:pt>
                <c:pt idx="8">
                  <c:v>8.25</c:v>
                </c:pt>
                <c:pt idx="9">
                  <c:v>8.19</c:v>
                </c:pt>
                <c:pt idx="10">
                  <c:v>5.21</c:v>
                </c:pt>
                <c:pt idx="11">
                  <c:v>4.76</c:v>
                </c:pt>
                <c:pt idx="12">
                  <c:v>4.3</c:v>
                </c:pt>
                <c:pt idx="13">
                  <c:v>4.1900000000000004</c:v>
                </c:pt>
                <c:pt idx="14">
                  <c:v>3.61</c:v>
                </c:pt>
                <c:pt idx="15">
                  <c:v>3.61</c:v>
                </c:pt>
                <c:pt idx="16">
                  <c:v>2.02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A-C422-E54D-B337-AF7335344C2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D0D8E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5"/>
          <c:min val="0"/>
        </c:scaling>
        <c:delete val="0"/>
        <c:axPos val="b"/>
        <c:majorGridlines>
          <c:spPr>
            <a:ln w="3810" cap="flat">
              <a:solidFill>
                <a:srgbClr val="253A55"/>
              </a:solidFill>
              <a:prstDash val="solid"/>
              <a:round/>
            </a:ln>
          </c:spPr>
        </c:majorGridlines>
        <c:numFmt formatCode="0.0&quot;%&quot;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FA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F1A2E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F1A2E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Change</c:v>
                </c:pt>
              </c:strCache>
            </c:strRef>
          </c:tx>
          <c:spPr>
            <a:solidFill>
              <a:srgbClr val="1D9E75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756-2349-B7B2-2E4B4C6CB095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1756-2349-B7B2-2E4B4C6CB095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1756-2349-B7B2-2E4B4C6CB095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1756-2349-B7B2-2E4B4C6CB095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1756-2349-B7B2-2E4B4C6CB095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1756-2349-B7B2-2E4B4C6CB095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1756-2349-B7B2-2E4B4C6CB095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F-1756-2349-B7B2-2E4B4C6CB095}"/>
              </c:ext>
            </c:extLst>
          </c:dPt>
          <c:dPt>
            <c:idx val="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1-1756-2349-B7B2-2E4B4C6CB095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3-1756-2349-B7B2-2E4B4C6CB095}"/>
              </c:ext>
            </c:extLst>
          </c:dPt>
          <c:dPt>
            <c:idx val="1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5-1756-2349-B7B2-2E4B4C6CB095}"/>
              </c:ext>
            </c:extLst>
          </c:dPt>
          <c:dPt>
            <c:idx val="1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7-1756-2349-B7B2-2E4B4C6CB095}"/>
              </c:ext>
            </c:extLst>
          </c:dPt>
          <c:dPt>
            <c:idx val="1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9-1756-2349-B7B2-2E4B4C6CB095}"/>
              </c:ext>
            </c:extLst>
          </c:dPt>
          <c:dPt>
            <c:idx val="1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B-1756-2349-B7B2-2E4B4C6CB095}"/>
              </c:ext>
            </c:extLst>
          </c:dPt>
          <c:dPt>
            <c:idx val="14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D-1756-2349-B7B2-2E4B4C6CB095}"/>
              </c:ext>
            </c:extLst>
          </c:dPt>
          <c:dPt>
            <c:idx val="15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F-1756-2349-B7B2-2E4B4C6CB095}"/>
              </c:ext>
            </c:extLst>
          </c:dPt>
          <c:dPt>
            <c:idx val="16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1-1756-2349-B7B2-2E4B4C6CB095}"/>
              </c:ext>
            </c:extLst>
          </c:dPt>
          <c:dPt>
            <c:idx val="17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3-1756-2349-B7B2-2E4B4C6CB095}"/>
              </c:ext>
            </c:extLst>
          </c:dPt>
          <c:dPt>
            <c:idx val="18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5-1756-2349-B7B2-2E4B4C6CB095}"/>
              </c:ext>
            </c:extLst>
          </c:dPt>
          <c:dPt>
            <c:idx val="19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7-1756-2349-B7B2-2E4B4C6CB095}"/>
              </c:ext>
            </c:extLst>
          </c:dPt>
          <c:dPt>
            <c:idx val="20"/>
            <c:invertIfNegative val="0"/>
            <c:bubble3D val="0"/>
            <c:spPr>
              <a:solidFill>
                <a:srgbClr val="C0392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29-1756-2349-B7B2-2E4B4C6CB095}"/>
              </c:ext>
            </c:extLst>
          </c:dPt>
          <c:cat>
            <c:strRef>
              <c:f>Sheet1!$A$2:$A$22</c:f>
              <c:strCache>
                <c:ptCount val="21"/>
                <c:pt idx="0">
                  <c:v>Kilo</c:v>
                </c:pt>
                <c:pt idx="1">
                  <c:v>Quebec</c:v>
                </c:pt>
                <c:pt idx="2">
                  <c:v>Golf</c:v>
                </c:pt>
                <c:pt idx="3">
                  <c:v>India</c:v>
                </c:pt>
                <c:pt idx="4">
                  <c:v>Romeo</c:v>
                </c:pt>
                <c:pt idx="5">
                  <c:v>Victor</c:v>
                </c:pt>
                <c:pt idx="6">
                  <c:v>Hotel</c:v>
                </c:pt>
                <c:pt idx="7">
                  <c:v>Tango</c:v>
                </c:pt>
                <c:pt idx="8">
                  <c:v>Oscar</c:v>
                </c:pt>
                <c:pt idx="9">
                  <c:v>Foxtrot</c:v>
                </c:pt>
                <c:pt idx="10">
                  <c:v>Papa</c:v>
                </c:pt>
                <c:pt idx="11">
                  <c:v>Mike</c:v>
                </c:pt>
                <c:pt idx="12">
                  <c:v>Lima</c:v>
                </c:pt>
                <c:pt idx="13">
                  <c:v>Whiskey</c:v>
                </c:pt>
                <c:pt idx="14">
                  <c:v>Sierra</c:v>
                </c:pt>
                <c:pt idx="15">
                  <c:v>Alfa</c:v>
                </c:pt>
                <c:pt idx="16">
                  <c:v>Bravo</c:v>
                </c:pt>
                <c:pt idx="17">
                  <c:v>Juliett</c:v>
                </c:pt>
                <c:pt idx="18">
                  <c:v>Uniform</c:v>
                </c:pt>
                <c:pt idx="19">
                  <c:v>Echo</c:v>
                </c:pt>
                <c:pt idx="20">
                  <c:v>November</c:v>
                </c:pt>
              </c:strCache>
            </c:strRef>
          </c:cat>
          <c:val>
            <c:numRef>
              <c:f>Sheet1!$B$2:$B$22</c:f>
              <c:numCache>
                <c:formatCode>General</c:formatCode>
                <c:ptCount val="21"/>
                <c:pt idx="0">
                  <c:v>-111.26</c:v>
                </c:pt>
                <c:pt idx="1">
                  <c:v>-68.739999999999995</c:v>
                </c:pt>
                <c:pt idx="2">
                  <c:v>-53.67</c:v>
                </c:pt>
                <c:pt idx="3">
                  <c:v>-41.13</c:v>
                </c:pt>
                <c:pt idx="4">
                  <c:v>-32</c:v>
                </c:pt>
                <c:pt idx="5">
                  <c:v>-20.95</c:v>
                </c:pt>
                <c:pt idx="6">
                  <c:v>-19.670000000000002</c:v>
                </c:pt>
                <c:pt idx="7">
                  <c:v>-18.899999999999999</c:v>
                </c:pt>
                <c:pt idx="8">
                  <c:v>-7.37</c:v>
                </c:pt>
                <c:pt idx="9">
                  <c:v>-7.19</c:v>
                </c:pt>
                <c:pt idx="10">
                  <c:v>-5.42</c:v>
                </c:pt>
                <c:pt idx="11">
                  <c:v>-4.29</c:v>
                </c:pt>
                <c:pt idx="12">
                  <c:v>-1.65</c:v>
                </c:pt>
                <c:pt idx="13">
                  <c:v>-1.47</c:v>
                </c:pt>
                <c:pt idx="14">
                  <c:v>0.13</c:v>
                </c:pt>
                <c:pt idx="15">
                  <c:v>0.76</c:v>
                </c:pt>
                <c:pt idx="16">
                  <c:v>2.04</c:v>
                </c:pt>
                <c:pt idx="17">
                  <c:v>3.16</c:v>
                </c:pt>
                <c:pt idx="18">
                  <c:v>17.600000000000001</c:v>
                </c:pt>
                <c:pt idx="19">
                  <c:v>17.7</c:v>
                </c:pt>
                <c:pt idx="20">
                  <c:v>41.6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A-1756-2349-B7B2-2E4B4C6CB0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D0D8E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0"/>
          <c:min val="-120"/>
        </c:scaling>
        <c:delete val="0"/>
        <c:axPos val="b"/>
        <c:majorGridlines>
          <c:spPr>
            <a:ln w="3810" cap="flat">
              <a:solidFill>
                <a:srgbClr val="253A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6B7FA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F1A2E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F1A2E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Worsens</c:v>
                </c:pt>
              </c:strCache>
            </c:strRef>
          </c:tx>
          <c:spPr>
            <a:ln w="25400" cap="flat">
              <a:solidFill>
                <a:srgbClr val="1D9E75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D9E75"/>
              </a:solidFill>
              <a:ln w="9525" cap="flat">
                <a:solidFill>
                  <a:srgbClr val="1D9E75"/>
                </a:solidFill>
                <a:prstDash val="solid"/>
                <a:round/>
              </a:ln>
              <a:effectLst/>
            </c:spPr>
          </c:marker>
          <c:xVal>
            <c:numRef>
              <c:f>Sheet1!$A$2:$A$13</c:f>
              <c:numCache>
                <c:formatCode>General</c:formatCode>
                <c:ptCount val="12"/>
              </c:numCache>
            </c:numRef>
          </c:xVal>
          <c:yVal>
            <c:numRef>
              <c:f>Sheet1!$B$2:$B$13</c:f>
              <c:numCache>
                <c:formatCode>General</c:formatCode>
                <c:ptCount val="12"/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4336-074C-948A-8D8CC46B076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Parity</c:v>
                </c:pt>
              </c:strCache>
            </c:strRef>
          </c:tx>
          <c:spPr>
            <a:ln w="25400" cap="flat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xVal>
            <c:numRef>
              <c:f>Sheet1!$A$2:$A$13</c:f>
              <c:numCache>
                <c:formatCode>General</c:formatCode>
                <c:ptCount val="12"/>
              </c:numCache>
            </c:numRef>
          </c:xVal>
          <c:yVal>
            <c:numRef>
              <c:f>Sheet1!$C$2:$C$13</c:f>
              <c:numCache>
                <c:formatCode>General</c:formatCode>
                <c:ptCount val="12"/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4336-074C-948A-8D8CC46B07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160"/>
          <c:min val="0"/>
        </c:scaling>
        <c:delete val="0"/>
        <c:axPos val="b"/>
        <c:majorGridlines>
          <c:spPr>
            <a:ln w="3810" cap="flat">
              <a:solidFill>
                <a:srgbClr val="253A5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6B7FA3"/>
                    </a:solidFill>
                    <a:latin typeface="Arial"/>
                  </a:defRPr>
                </a:pPr>
                <a:r>
                  <a:rPr lang="en-US" sz="800" b="0" i="0" u="none" strike="noStrike">
                    <a:solidFill>
                      <a:srgbClr val="6B7FA3"/>
                    </a:solidFill>
                    <a:latin typeface="Arial"/>
                  </a:rPr>
                  <a:t>actual avg (min)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7FA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crossBetween val="midCat"/>
      </c:valAx>
      <c:valAx>
        <c:axId val="2094734552"/>
        <c:scaling>
          <c:orientation val="minMax"/>
          <c:max val="160"/>
          <c:min val="0"/>
        </c:scaling>
        <c:delete val="0"/>
        <c:axPos val="l"/>
        <c:majorGridlines>
          <c:spPr>
            <a:ln w="3810" cap="flat">
              <a:solidFill>
                <a:srgbClr val="253A5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800" b="0" i="0" u="none" strike="noStrike">
                    <a:solidFill>
                      <a:srgbClr val="6B7FA3"/>
                    </a:solidFill>
                    <a:latin typeface="Arial"/>
                  </a:defRPr>
                </a:pPr>
                <a:r>
                  <a:rPr lang="en-US" sz="800" b="0" i="0" u="none" strike="noStrike">
                    <a:solidFill>
                      <a:srgbClr val="6B7FA3"/>
                    </a:solidFill>
                    <a:latin typeface="Arial"/>
                  </a:rPr>
                  <a:t>reassigned avg (min)</a:t>
                </a: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7FA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solidFill>
          <a:srgbClr val="0F1A2E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F1A2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41302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75B6"/>
          </a:solidFill>
          <a:ln w="12700">
            <a:solidFill>
              <a:srgbClr val="000000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</a:rPr>
              <a:t>Impact of Meal Break Regulations</a:t>
            </a:r>
            <a:endParaRPr lang="en-US" sz="3000"/>
          </a:p>
        </p:txBody>
      </p:sp>
      <p:sp>
        <p:nvSpPr>
          <p:cNvPr id="4" name="Text 2"/>
          <p:cNvSpPr/>
          <p:nvPr/>
        </p:nvSpPr>
        <p:spPr>
          <a:xfrm>
            <a:off x="457200" y="1481328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D0D8E8"/>
                </a:solidFill>
              </a:rPr>
              <a:t>on Emergency Medical Air Transport Operations</a:t>
            </a:r>
            <a:endParaRPr lang="en-US" sz="2000"/>
          </a:p>
        </p:txBody>
      </p:sp>
      <p:sp>
        <p:nvSpPr>
          <p:cNvPr id="5" name="Shape 3"/>
          <p:cNvSpPr/>
          <p:nvPr/>
        </p:nvSpPr>
        <p:spPr>
          <a:xfrm>
            <a:off x="457200" y="2066544"/>
            <a:ext cx="5303520" cy="0"/>
          </a:xfrm>
          <a:prstGeom prst="line">
            <a:avLst/>
          </a:prstGeom>
          <a:noFill/>
          <a:ln w="25400">
            <a:solidFill>
              <a:srgbClr val="C9A84C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217627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C9A84C"/>
                </a:solidFill>
              </a:rPr>
              <a:t>LMU Datathon 2026  ·  Board of Directors Presentation</a:t>
            </a:r>
            <a:endParaRPr lang="en-US" sz="1200"/>
          </a:p>
        </p:txBody>
      </p:sp>
      <p:sp>
        <p:nvSpPr>
          <p:cNvPr id="7" name="Text 5"/>
          <p:cNvSpPr/>
          <p:nvPr/>
        </p:nvSpPr>
        <p:spPr>
          <a:xfrm>
            <a:off x="457200" y="245059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B7FA3"/>
                </a:solidFill>
              </a:rPr>
              <a:t>Analysis of 1,732 emergency calls across 21 California bases</a:t>
            </a:r>
            <a:endParaRPr lang="en-US" sz="1100"/>
          </a:p>
        </p:txBody>
      </p:sp>
      <p:sp>
        <p:nvSpPr>
          <p:cNvPr id="8" name="Text 6"/>
          <p:cNvSpPr/>
          <p:nvPr/>
        </p:nvSpPr>
        <p:spPr>
          <a:xfrm>
            <a:off x="457200" y="267004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FA3"/>
                </a:solidFill>
              </a:rPr>
              <a:t>CONFIDENTIAL  ·  FOR BOARD REVIEW ONLY</a:t>
            </a:r>
            <a:endParaRPr lang="en-US" sz="1000"/>
          </a:p>
        </p:txBody>
      </p:sp>
      <p:sp>
        <p:nvSpPr>
          <p:cNvPr id="27" name="Text 25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381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FA3"/>
                </a:solidFill>
              </a:rPr>
              <a:t>LMU Datathon 2026  |  Slide 1</a:t>
            </a:r>
            <a:endParaRPr lang="en-US" sz="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>
                <a:solidFill>
                  <a:srgbClr val="2E75B6"/>
                </a:solidFill>
              </a:rPr>
              <a:t>INTRODUCTION &amp; BACKGROUND</a:t>
            </a:r>
            <a:endParaRPr lang="en-US" sz="900"/>
          </a:p>
        </p:txBody>
      </p:sp>
      <p:sp>
        <p:nvSpPr>
          <p:cNvPr id="3" name="Text 1"/>
          <p:cNvSpPr/>
          <p:nvPr/>
        </p:nvSpPr>
        <p:spPr>
          <a:xfrm>
            <a:off x="411480" y="36576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</a:rPr>
              <a:t>Introduction &amp; Background</a:t>
            </a:r>
            <a:endParaRPr lang="en-US" sz="2600"/>
          </a:p>
        </p:txBody>
      </p:sp>
      <p:sp>
        <p:nvSpPr>
          <p:cNvPr id="4" name="Shape 2"/>
          <p:cNvSpPr/>
          <p:nvPr/>
        </p:nvSpPr>
        <p:spPr>
          <a:xfrm>
            <a:off x="274320" y="987552"/>
            <a:ext cx="4160520" cy="1463040"/>
          </a:xfrm>
          <a:prstGeom prst="rect">
            <a:avLst/>
          </a:prstGeom>
          <a:solidFill>
            <a:srgbClr val="1A2840"/>
          </a:solidFill>
          <a:ln w="12700">
            <a:solidFill>
              <a:srgbClr val="000000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45720" cy="1463040"/>
          </a:xfrm>
          <a:prstGeom prst="rect">
            <a:avLst/>
          </a:prstGeom>
          <a:solidFill>
            <a:srgbClr val="2E75B6"/>
          </a:solidFill>
          <a:ln w="12700">
            <a:solidFill>
              <a:srgbClr val="000000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75488" y="1042416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>
                <a:solidFill>
                  <a:srgbClr val="2E75B6"/>
                </a:solidFill>
              </a:rPr>
              <a:t>LEGAL BACKGROUND</a:t>
            </a:r>
            <a:endParaRPr lang="en-US" sz="900"/>
          </a:p>
        </p:txBody>
      </p:sp>
      <p:sp>
        <p:nvSpPr>
          <p:cNvPr id="7" name="Text 5"/>
          <p:cNvSpPr/>
          <p:nvPr/>
        </p:nvSpPr>
        <p:spPr>
          <a:xfrm>
            <a:off x="475488" y="1243584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b="1">
                <a:solidFill>
                  <a:srgbClr val="D0D8E8"/>
                </a:solidFill>
              </a:rPr>
              <a:t>California Labor Code §512
</a:t>
            </a:r>
            <a:r>
              <a:rPr lang="en-US" sz="1050">
                <a:solidFill>
                  <a:srgbClr val="D0D8E8"/>
                </a:solidFill>
              </a:rPr>
              <a:t>requires employers to provide two 30-minute meal breaks to hourly workers on shifts exceeding 10 hours. The EMS industry has long operated 24-hour shifts to ensure uninterrupted coverage — a practice now under legal scrutiny.</a:t>
            </a:r>
            <a:endParaRPr lang="en-US" sz="1050"/>
          </a:p>
        </p:txBody>
      </p:sp>
      <p:sp>
        <p:nvSpPr>
          <p:cNvPr id="8" name="Shape 6"/>
          <p:cNvSpPr/>
          <p:nvPr/>
        </p:nvSpPr>
        <p:spPr>
          <a:xfrm>
            <a:off x="274320" y="2569747"/>
            <a:ext cx="4222543" cy="1929632"/>
          </a:xfrm>
          <a:prstGeom prst="rect">
            <a:avLst/>
          </a:prstGeom>
          <a:solidFill>
            <a:srgbClr val="1A2840"/>
          </a:solidFill>
          <a:ln w="12700">
            <a:solidFill>
              <a:srgbClr val="000000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 flipH="1">
            <a:off x="275739" y="2569748"/>
            <a:ext cx="42883" cy="1929631"/>
          </a:xfrm>
          <a:prstGeom prst="rect">
            <a:avLst/>
          </a:prstGeom>
          <a:solidFill>
            <a:srgbClr val="C9A84C"/>
          </a:solidFill>
          <a:ln w="12700">
            <a:solidFill>
              <a:srgbClr val="000000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5488" y="2633472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>
                <a:solidFill>
                  <a:srgbClr val="C9A84C"/>
                </a:solidFill>
              </a:rPr>
              <a:t>WHY THIS MATTERS</a:t>
            </a:r>
            <a:endParaRPr lang="en-US" sz="900"/>
          </a:p>
        </p:txBody>
      </p:sp>
      <p:sp>
        <p:nvSpPr>
          <p:cNvPr id="11" name="Text 9"/>
          <p:cNvSpPr/>
          <p:nvPr/>
        </p:nvSpPr>
        <p:spPr>
          <a:xfrm>
            <a:off x="378023" y="3441581"/>
            <a:ext cx="4014851" cy="42601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050">
                <a:solidFill>
                  <a:srgbClr val="D0D8E8"/>
                </a:solidFill>
                <a:ea typeface="+mn-lt"/>
                <a:cs typeface="+mn-lt"/>
              </a:rPr>
              <a:t>In Stewart v. San Luis Ambulance, the Ninth Circuit asked the California Supreme Court whether EMS employers must fully relieve crews during breaks.</a:t>
            </a:r>
            <a:endParaRPr lang="en-US"/>
          </a:p>
          <a:p>
            <a:pPr marL="171450" indent="-171450">
              <a:buFont typeface="Calibri"/>
              <a:buChar char="-"/>
            </a:pPr>
            <a:r>
              <a:rPr lang="en-US" sz="1050">
                <a:solidFill>
                  <a:srgbClr val="D0D8E8"/>
                </a:solidFill>
                <a:ea typeface="+mn-lt"/>
                <a:cs typeface="+mn-lt"/>
              </a:rPr>
              <a:t>If regulations pass, the Company faces: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171450" indent="-171450">
              <a:buFont typeface="Calibri"/>
              <a:buChar char="-"/>
            </a:pPr>
            <a:r>
              <a:rPr lang="en-US" sz="1050">
                <a:solidFill>
                  <a:srgbClr val="D0D8E8"/>
                </a:solidFill>
                <a:ea typeface="+mn-lt"/>
                <a:cs typeface="+mn-lt"/>
              </a:rPr>
              <a:t>Operational violations on the majority of shifts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171450" indent="-171450">
              <a:buFont typeface="Calibri"/>
              <a:buChar char="-"/>
            </a:pPr>
            <a:r>
              <a:rPr lang="en-US" sz="1050">
                <a:solidFill>
                  <a:srgbClr val="D0D8E8"/>
                </a:solidFill>
                <a:ea typeface="+mn-lt"/>
                <a:cs typeface="+mn-lt"/>
              </a:rPr>
              <a:t>Mandatory call reassignment adding response time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pPr marL="171450" indent="-171450">
              <a:buFont typeface="Calibri"/>
              <a:buChar char="-"/>
            </a:pPr>
            <a:r>
              <a:rPr lang="en-US" sz="1050">
                <a:solidFill>
                  <a:srgbClr val="D0D8E8"/>
                </a:solidFill>
                <a:ea typeface="+mn-lt"/>
                <a:cs typeface="+mn-lt"/>
              </a:rPr>
              <a:t>Premium wage liability (1 </a:t>
            </a:r>
            <a:r>
              <a:rPr lang="en-US" sz="1050" err="1">
                <a:solidFill>
                  <a:srgbClr val="D0D8E8"/>
                </a:solidFill>
                <a:ea typeface="+mn-lt"/>
                <a:cs typeface="+mn-lt"/>
              </a:rPr>
              <a:t>hr</a:t>
            </a:r>
            <a:r>
              <a:rPr lang="en-US" sz="1050">
                <a:solidFill>
                  <a:srgbClr val="D0D8E8"/>
                </a:solidFill>
                <a:ea typeface="+mn-lt"/>
                <a:cs typeface="+mn-lt"/>
              </a:rPr>
              <a:t> pay per violation)</a:t>
            </a:r>
            <a:endParaRPr lang="en-US">
              <a:ea typeface="Calibri"/>
              <a:cs typeface="Calibri"/>
            </a:endParaRPr>
          </a:p>
          <a:p>
            <a:endParaRPr lang="en-US" sz="1050">
              <a:solidFill>
                <a:srgbClr val="D0D8E8"/>
              </a:solidFill>
              <a:ea typeface="+mn-lt"/>
              <a:cs typeface="+mn-lt"/>
            </a:endParaRPr>
          </a:p>
          <a:p>
            <a:pPr>
              <a:lnSpc>
                <a:spcPct val="130000"/>
              </a:lnSpc>
            </a:pPr>
            <a:endParaRPr lang="en-US" sz="1050" b="1">
              <a:solidFill>
                <a:srgbClr val="D0D8E8"/>
              </a:solidFill>
              <a:ea typeface="Calibri"/>
              <a:cs typeface="Calibri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79918" y="4689135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>
                <a:solidFill>
                  <a:srgbClr val="6B7FA3"/>
                </a:solidFill>
              </a:rPr>
              <a:t>Source: Hinshaw &amp; Culbertson LLP, 'California Supreme Court to Provide Guidance on Meal and Rest Breaks' (2018).</a:t>
            </a:r>
            <a:endParaRPr lang="en-US" sz="750"/>
          </a:p>
        </p:txBody>
      </p:sp>
      <p:sp>
        <p:nvSpPr>
          <p:cNvPr id="15" name="Shape 13"/>
          <p:cNvSpPr/>
          <p:nvPr/>
        </p:nvSpPr>
        <p:spPr>
          <a:xfrm>
            <a:off x="4663440" y="987552"/>
            <a:ext cx="4160520" cy="3840480"/>
          </a:xfrm>
          <a:prstGeom prst="rect">
            <a:avLst/>
          </a:prstGeom>
          <a:solidFill>
            <a:srgbClr val="1A2840"/>
          </a:solidFill>
          <a:ln w="12700">
            <a:solidFill>
              <a:srgbClr val="000000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663440" y="987552"/>
            <a:ext cx="45720" cy="3840480"/>
          </a:xfrm>
          <a:prstGeom prst="rect">
            <a:avLst/>
          </a:prstGeom>
          <a:solidFill>
            <a:srgbClr val="2E75B6"/>
          </a:solidFill>
          <a:ln w="12700">
            <a:solidFill>
              <a:srgbClr val="000000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64608" y="104241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>
                <a:solidFill>
                  <a:srgbClr val="2E75B6"/>
                </a:solidFill>
              </a:rPr>
              <a:t>KEY STATISTICS FROM THIS ANALYSIS</a:t>
            </a:r>
            <a:endParaRPr lang="en-US" sz="900"/>
          </a:p>
        </p:txBody>
      </p:sp>
      <p:sp>
        <p:nvSpPr>
          <p:cNvPr id="18" name="Shape 16"/>
          <p:cNvSpPr/>
          <p:nvPr/>
        </p:nvSpPr>
        <p:spPr>
          <a:xfrm>
            <a:off x="4663440" y="1316736"/>
            <a:ext cx="45720" cy="603504"/>
          </a:xfrm>
          <a:prstGeom prst="rect">
            <a:avLst/>
          </a:prstGeom>
          <a:solidFill>
            <a:srgbClr val="C9A84C"/>
          </a:solidFill>
          <a:ln w="12700">
            <a:solidFill>
              <a:srgbClr val="000000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28032" y="135331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C9A84C"/>
                </a:solidFill>
              </a:rPr>
              <a:t>1,732</a:t>
            </a:r>
            <a:endParaRPr lang="en-US" sz="2200"/>
          </a:p>
        </p:txBody>
      </p:sp>
      <p:sp>
        <p:nvSpPr>
          <p:cNvPr id="20" name="Text 18"/>
          <p:cNvSpPr/>
          <p:nvPr/>
        </p:nvSpPr>
        <p:spPr>
          <a:xfrm>
            <a:off x="4828032" y="1627632"/>
            <a:ext cx="3749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</a:rPr>
              <a:t>Emergency calls analyzed</a:t>
            </a:r>
            <a:endParaRPr lang="en-US" sz="1000"/>
          </a:p>
        </p:txBody>
      </p:sp>
      <p:sp>
        <p:nvSpPr>
          <p:cNvPr id="21" name="Text 19"/>
          <p:cNvSpPr/>
          <p:nvPr/>
        </p:nvSpPr>
        <p:spPr>
          <a:xfrm>
            <a:off x="4828032" y="1773936"/>
            <a:ext cx="37490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FA3"/>
                </a:solidFill>
              </a:rPr>
              <a:t>Apr – Jun 2017  ·  21 bases</a:t>
            </a:r>
            <a:endParaRPr lang="en-US" sz="900"/>
          </a:p>
        </p:txBody>
      </p:sp>
      <p:sp>
        <p:nvSpPr>
          <p:cNvPr id="22" name="Shape 20"/>
          <p:cNvSpPr/>
          <p:nvPr/>
        </p:nvSpPr>
        <p:spPr>
          <a:xfrm>
            <a:off x="4663440" y="1984248"/>
            <a:ext cx="45720" cy="603504"/>
          </a:xfrm>
          <a:prstGeom prst="rect">
            <a:avLst/>
          </a:prstGeom>
          <a:solidFill>
            <a:srgbClr val="C9A84C"/>
          </a:solidFill>
          <a:ln w="12700">
            <a:solidFill>
              <a:srgbClr val="000000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28032" y="202082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C9A84C"/>
                </a:solidFill>
              </a:rPr>
              <a:t>44.8</a:t>
            </a:r>
            <a:endParaRPr lang="en-US" sz="2200"/>
          </a:p>
        </p:txBody>
      </p:sp>
      <p:sp>
        <p:nvSpPr>
          <p:cNvPr id="24" name="Text 22"/>
          <p:cNvSpPr/>
          <p:nvPr/>
        </p:nvSpPr>
        <p:spPr>
          <a:xfrm>
            <a:off x="4828032" y="2295144"/>
            <a:ext cx="3749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</a:rPr>
              <a:t>Minutes avg time to patient</a:t>
            </a:r>
            <a:endParaRPr lang="en-US" sz="1000"/>
          </a:p>
        </p:txBody>
      </p:sp>
      <p:sp>
        <p:nvSpPr>
          <p:cNvPr id="25" name="Text 23"/>
          <p:cNvSpPr/>
          <p:nvPr/>
        </p:nvSpPr>
        <p:spPr>
          <a:xfrm>
            <a:off x="4828032" y="2441448"/>
            <a:ext cx="37490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FA3"/>
                </a:solidFill>
              </a:rPr>
              <a:t>50% ground delay + 50% flight time</a:t>
            </a:r>
            <a:endParaRPr lang="en-US" sz="900"/>
          </a:p>
        </p:txBody>
      </p:sp>
      <p:sp>
        <p:nvSpPr>
          <p:cNvPr id="26" name="Shape 24"/>
          <p:cNvSpPr/>
          <p:nvPr/>
        </p:nvSpPr>
        <p:spPr>
          <a:xfrm>
            <a:off x="4663440" y="2651760"/>
            <a:ext cx="45720" cy="603504"/>
          </a:xfrm>
          <a:prstGeom prst="rect">
            <a:avLst/>
          </a:prstGeom>
          <a:solidFill>
            <a:srgbClr val="C9A84C"/>
          </a:solidFill>
          <a:ln w="12700">
            <a:solidFill>
              <a:srgbClr val="000000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28032" y="268833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C9A84C"/>
                </a:solidFill>
              </a:rPr>
              <a:t>54.1%</a:t>
            </a:r>
            <a:endParaRPr lang="en-US" sz="2200"/>
          </a:p>
        </p:txBody>
      </p:sp>
      <p:sp>
        <p:nvSpPr>
          <p:cNvPr id="28" name="Text 26"/>
          <p:cNvSpPr/>
          <p:nvPr/>
        </p:nvSpPr>
        <p:spPr>
          <a:xfrm>
            <a:off x="4828032" y="2962656"/>
            <a:ext cx="3749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</a:rPr>
              <a:t>Of shifts would have violations</a:t>
            </a:r>
            <a:endParaRPr lang="en-US" sz="1000"/>
          </a:p>
        </p:txBody>
      </p:sp>
      <p:sp>
        <p:nvSpPr>
          <p:cNvPr id="29" name="Text 27"/>
          <p:cNvSpPr/>
          <p:nvPr/>
        </p:nvSpPr>
        <p:spPr>
          <a:xfrm>
            <a:off x="4828032" y="3108960"/>
            <a:ext cx="37490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FA3"/>
                </a:solidFill>
              </a:rPr>
              <a:t>Under the Table 1 break schedule</a:t>
            </a:r>
            <a:endParaRPr lang="en-US" sz="900"/>
          </a:p>
        </p:txBody>
      </p:sp>
      <p:sp>
        <p:nvSpPr>
          <p:cNvPr id="30" name="Shape 28"/>
          <p:cNvSpPr/>
          <p:nvPr/>
        </p:nvSpPr>
        <p:spPr>
          <a:xfrm>
            <a:off x="4663440" y="3319272"/>
            <a:ext cx="45720" cy="603504"/>
          </a:xfrm>
          <a:prstGeom prst="rect">
            <a:avLst/>
          </a:prstGeom>
          <a:solidFill>
            <a:srgbClr val="C9A84C"/>
          </a:solidFill>
          <a:ln w="12700">
            <a:solidFill>
              <a:srgbClr val="000000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28032" y="335584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C9A84C"/>
                </a:solidFill>
              </a:rPr>
              <a:t>5</a:t>
            </a:r>
            <a:endParaRPr lang="en-US" sz="2200"/>
          </a:p>
        </p:txBody>
      </p:sp>
      <p:sp>
        <p:nvSpPr>
          <p:cNvPr id="32" name="Text 30"/>
          <p:cNvSpPr/>
          <p:nvPr/>
        </p:nvSpPr>
        <p:spPr>
          <a:xfrm>
            <a:off x="4828032" y="3630168"/>
            <a:ext cx="3749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</a:rPr>
              <a:t>Bases with ≥60% violation rate</a:t>
            </a:r>
            <a:endParaRPr lang="en-US" sz="1000"/>
          </a:p>
        </p:txBody>
      </p:sp>
      <p:sp>
        <p:nvSpPr>
          <p:cNvPr id="33" name="Text 31"/>
          <p:cNvSpPr/>
          <p:nvPr/>
        </p:nvSpPr>
        <p:spPr>
          <a:xfrm>
            <a:off x="4828032" y="3776472"/>
            <a:ext cx="37490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FA3"/>
                </a:solidFill>
              </a:rPr>
              <a:t>November, Echo, Alfa, Lima, Victor</a:t>
            </a:r>
            <a:endParaRPr lang="en-US" sz="900"/>
          </a:p>
        </p:txBody>
      </p:sp>
      <p:sp>
        <p:nvSpPr>
          <p:cNvPr id="34" name="Shape 32"/>
          <p:cNvSpPr/>
          <p:nvPr/>
        </p:nvSpPr>
        <p:spPr>
          <a:xfrm>
            <a:off x="4663440" y="3986784"/>
            <a:ext cx="45720" cy="603504"/>
          </a:xfrm>
          <a:prstGeom prst="rect">
            <a:avLst/>
          </a:prstGeom>
          <a:solidFill>
            <a:srgbClr val="C9A84C"/>
          </a:solidFill>
          <a:ln w="12700">
            <a:solidFill>
              <a:srgbClr val="000000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828032" y="402336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C9A84C"/>
                </a:solidFill>
              </a:rPr>
              <a:t>21 min</a:t>
            </a:r>
            <a:endParaRPr lang="en-US" sz="2200"/>
          </a:p>
        </p:txBody>
      </p:sp>
      <p:sp>
        <p:nvSpPr>
          <p:cNvPr id="36" name="Text 34"/>
          <p:cNvSpPr/>
          <p:nvPr/>
        </p:nvSpPr>
        <p:spPr>
          <a:xfrm>
            <a:off x="4828032" y="4297680"/>
            <a:ext cx="3749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</a:rPr>
              <a:t>Avg ground response time</a:t>
            </a:r>
            <a:endParaRPr lang="en-US" sz="1000"/>
          </a:p>
        </p:txBody>
      </p:sp>
      <p:sp>
        <p:nvSpPr>
          <p:cNvPr id="37" name="Text 35"/>
          <p:cNvSpPr/>
          <p:nvPr/>
        </p:nvSpPr>
        <p:spPr>
          <a:xfrm>
            <a:off x="4828032" y="4443984"/>
            <a:ext cx="37490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FA3"/>
                </a:solidFill>
              </a:rPr>
              <a:t>Dispatch to wheels-up (median 15.5)</a:t>
            </a:r>
            <a:endParaRPr lang="en-US" sz="900"/>
          </a:p>
        </p:txBody>
      </p:sp>
      <p:sp>
        <p:nvSpPr>
          <p:cNvPr id="38" name="Text 36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381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FA3"/>
                </a:solidFill>
              </a:rPr>
              <a:t>LMU Datathon 2026  |  Slide 2</a:t>
            </a:r>
            <a:endParaRPr lang="en-US"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>
                <a:solidFill>
                  <a:srgbClr val="2E75B6"/>
                </a:solidFill>
              </a:rPr>
              <a:t>FLEET PERFORMANCE</a:t>
            </a:r>
            <a:endParaRPr lang="en-US" sz="900"/>
          </a:p>
        </p:txBody>
      </p:sp>
      <p:sp>
        <p:nvSpPr>
          <p:cNvPr id="3" name="Text 1"/>
          <p:cNvSpPr/>
          <p:nvPr/>
        </p:nvSpPr>
        <p:spPr>
          <a:xfrm>
            <a:off x="411480" y="36576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</a:rPr>
              <a:t>Response Time &amp; Time to Patient by Base (1/2)</a:t>
            </a:r>
            <a:endParaRPr lang="en-US" sz="2600"/>
          </a:p>
        </p:txBody>
      </p:sp>
      <p:sp>
        <p:nvSpPr>
          <p:cNvPr id="4" name="Text 2"/>
          <p:cNvSpPr/>
          <p:nvPr/>
        </p:nvSpPr>
        <p:spPr>
          <a:xfrm>
            <a:off x="411480" y="896112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FA3"/>
                </a:solidFill>
              </a:rPr>
              <a:t>Fast &amp; Moderate bases</a:t>
            </a:r>
            <a:endParaRPr lang="en-US" sz="100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078992"/>
          <a:ext cx="7406640" cy="387096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Base</a:t>
                      </a:r>
                      <a:endParaRPr lang="en-US" sz="80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Total Calls</a:t>
                      </a:r>
                      <a:endParaRPr lang="en-US" sz="80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Calls w/ RT</a:t>
                      </a:r>
                      <a:endParaRPr lang="en-US" sz="80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Avg Response (min)</a:t>
                      </a:r>
                      <a:endParaRPr lang="en-US" sz="80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Median Response (min)</a:t>
                      </a:r>
                      <a:endParaRPr lang="en-US" sz="80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Calls w/ TTP</a:t>
                      </a:r>
                      <a:endParaRPr lang="en-US" sz="80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Avg Time to Patient (min)</a:t>
                      </a:r>
                      <a:endParaRPr lang="en-US" sz="80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Median TTP (min)</a:t>
                      </a:r>
                      <a:endParaRPr lang="en-US" sz="80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Peak Hour</a:t>
                      </a:r>
                      <a:endParaRPr lang="en-US" sz="80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</a:rPr>
                        <a:t>Performance Tier</a:t>
                      </a:r>
                      <a:endParaRPr lang="en-US" sz="80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D0D8E8"/>
                          </a:solidFill>
                        </a:rPr>
                        <a:t>Echo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D0D8E8"/>
                          </a:solidFill>
                        </a:rPr>
                        <a:t>26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D0D8E8"/>
                          </a:solidFill>
                        </a:rPr>
                        <a:t>22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D0D8E8"/>
                          </a:solidFill>
                        </a:rPr>
                        <a:t>15.3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D0D8E8"/>
                          </a:solidFill>
                        </a:rPr>
                        <a:t>11.6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D0D8E8"/>
                          </a:solidFill>
                        </a:rPr>
                        <a:t>15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D0D8E8"/>
                          </a:solidFill>
                        </a:rPr>
                        <a:t>29.8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D0D8E8"/>
                          </a:solidFill>
                        </a:rPr>
                        <a:t>27.5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D0D8E8"/>
                          </a:solidFill>
                        </a:rPr>
                        <a:t>19:00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>
                          <a:solidFill>
                            <a:srgbClr val="4CAF82"/>
                          </a:solidFill>
                        </a:rPr>
                        <a:t>✓ Fast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A0B0C8"/>
                          </a:solidFill>
                        </a:rPr>
                        <a:t>Uniform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A0B0C8"/>
                          </a:solidFill>
                        </a:rPr>
                        <a:t>11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A0B0C8"/>
                          </a:solidFill>
                        </a:rPr>
                        <a:t>8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A0B0C8"/>
                          </a:solidFill>
                        </a:rPr>
                        <a:t>15.5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A0B0C8"/>
                          </a:solidFill>
                        </a:rPr>
                        <a:t>14.4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A0B0C8"/>
                          </a:solidFill>
                        </a:rPr>
                        <a:t>8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A0B0C8"/>
                          </a:solidFill>
                        </a:rPr>
                        <a:t>24.5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A0B0C8"/>
                          </a:solidFill>
                        </a:rPr>
                        <a:t>24.2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A0B0C8"/>
                          </a:solidFill>
                        </a:rPr>
                        <a:t>12:00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>
                          <a:solidFill>
                            <a:srgbClr val="4CAF82"/>
                          </a:solidFill>
                        </a:rPr>
                        <a:t>✓ Fast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D0D8E8"/>
                          </a:solidFill>
                        </a:rPr>
                        <a:t>Oscar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D0D8E8"/>
                          </a:solidFill>
                        </a:rPr>
                        <a:t>57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D0D8E8"/>
                          </a:solidFill>
                        </a:rPr>
                        <a:t>26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D0D8E8"/>
                          </a:solidFill>
                        </a:rPr>
                        <a:t>15.8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D0D8E8"/>
                          </a:solidFill>
                        </a:rPr>
                        <a:t>13.4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D0D8E8"/>
                          </a:solidFill>
                        </a:rPr>
                        <a:t>17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D0D8E8"/>
                          </a:solidFill>
                        </a:rPr>
                        <a:t>36.4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D0D8E8"/>
                          </a:solidFill>
                        </a:rPr>
                        <a:t>29.3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D0D8E8"/>
                          </a:solidFill>
                        </a:rPr>
                        <a:t>14:00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>
                          <a:solidFill>
                            <a:srgbClr val="4CAF82"/>
                          </a:solidFill>
                        </a:rPr>
                        <a:t>✓ Fast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A0B0C8"/>
                          </a:solidFill>
                        </a:rPr>
                        <a:t>Lima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A0B0C8"/>
                          </a:solidFill>
                        </a:rPr>
                        <a:t>272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A0B0C8"/>
                          </a:solidFill>
                        </a:rPr>
                        <a:t>116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A0B0C8"/>
                          </a:solidFill>
                        </a:rPr>
                        <a:t>16.2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A0B0C8"/>
                          </a:solidFill>
                        </a:rPr>
                        <a:t>13.1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A0B0C8"/>
                          </a:solidFill>
                        </a:rPr>
                        <a:t>53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A0B0C8"/>
                          </a:solidFill>
                        </a:rPr>
                        <a:t>31.7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A0B0C8"/>
                          </a:solidFill>
                        </a:rPr>
                        <a:t>27.6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A0B0C8"/>
                          </a:solidFill>
                        </a:rPr>
                        <a:t>21:00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>
                          <a:solidFill>
                            <a:srgbClr val="4CAF82"/>
                          </a:solidFill>
                        </a:rPr>
                        <a:t>✓ Fast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D0D8E8"/>
                          </a:solidFill>
                        </a:rPr>
                        <a:t>Foxtrot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D0D8E8"/>
                          </a:solidFill>
                        </a:rPr>
                        <a:t>267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D0D8E8"/>
                          </a:solidFill>
                        </a:rPr>
                        <a:t>162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D0D8E8"/>
                          </a:solidFill>
                        </a:rPr>
                        <a:t>16.6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D0D8E8"/>
                          </a:solidFill>
                        </a:rPr>
                        <a:t>10.7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D0D8E8"/>
                          </a:solidFill>
                        </a:rPr>
                        <a:t>101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D0D8E8"/>
                          </a:solidFill>
                        </a:rPr>
                        <a:t>39.9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D0D8E8"/>
                          </a:solidFill>
                        </a:rPr>
                        <a:t>33.7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D0D8E8"/>
                          </a:solidFill>
                        </a:rPr>
                        <a:t>16:00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>
                          <a:solidFill>
                            <a:srgbClr val="4CAF82"/>
                          </a:solidFill>
                        </a:rPr>
                        <a:t>✓ Fast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A0B0C8"/>
                          </a:solidFill>
                        </a:rPr>
                        <a:t>Bravo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A0B0C8"/>
                          </a:solidFill>
                        </a:rPr>
                        <a:t>40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A0B0C8"/>
                          </a:solidFill>
                        </a:rPr>
                        <a:t>12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A0B0C8"/>
                          </a:solidFill>
                        </a:rPr>
                        <a:t>16.6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A0B0C8"/>
                          </a:solidFill>
                        </a:rPr>
                        <a:t>14.1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A0B0C8"/>
                          </a:solidFill>
                        </a:rPr>
                        <a:t>7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A0B0C8"/>
                          </a:solidFill>
                        </a:rPr>
                        <a:t>31.4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A0B0C8"/>
                          </a:solidFill>
                        </a:rPr>
                        <a:t>27.4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A0B0C8"/>
                          </a:solidFill>
                        </a:rPr>
                        <a:t>10:00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>
                          <a:solidFill>
                            <a:srgbClr val="4CAF82"/>
                          </a:solidFill>
                        </a:rPr>
                        <a:t>✓ Fast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D0D8E8"/>
                          </a:solidFill>
                        </a:rPr>
                        <a:t>Whiskey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D0D8E8"/>
                          </a:solidFill>
                        </a:rPr>
                        <a:t>176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D0D8E8"/>
                          </a:solidFill>
                        </a:rPr>
                        <a:t>112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D0D8E8"/>
                          </a:solidFill>
                        </a:rPr>
                        <a:t>17.6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D0D8E8"/>
                          </a:solidFill>
                        </a:rPr>
                        <a:t>13.8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D0D8E8"/>
                          </a:solidFill>
                        </a:rPr>
                        <a:t>68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D0D8E8"/>
                          </a:solidFill>
                        </a:rPr>
                        <a:t>34.2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D0D8E8"/>
                          </a:solidFill>
                        </a:rPr>
                        <a:t>29.3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D0D8E8"/>
                          </a:solidFill>
                        </a:rPr>
                        <a:t>15:00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>
                          <a:solidFill>
                            <a:srgbClr val="4CAF82"/>
                          </a:solidFill>
                        </a:rPr>
                        <a:t>✓ Fast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A0B0C8"/>
                          </a:solidFill>
                        </a:rPr>
                        <a:t>Juliett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A0B0C8"/>
                          </a:solidFill>
                        </a:rPr>
                        <a:t>164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A0B0C8"/>
                          </a:solidFill>
                        </a:rPr>
                        <a:t>123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A0B0C8"/>
                          </a:solidFill>
                        </a:rPr>
                        <a:t>17.7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A0B0C8"/>
                          </a:solidFill>
                        </a:rPr>
                        <a:t>14.8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A0B0C8"/>
                          </a:solidFill>
                        </a:rPr>
                        <a:t>116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A0B0C8"/>
                          </a:solidFill>
                        </a:rPr>
                        <a:t>29.0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A0B0C8"/>
                          </a:solidFill>
                        </a:rPr>
                        <a:t>22.8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A0B0C8"/>
                          </a:solidFill>
                        </a:rPr>
                        <a:t>12:00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>
                          <a:solidFill>
                            <a:srgbClr val="4CAF82"/>
                          </a:solidFill>
                        </a:rPr>
                        <a:t>✓ Fast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D0D8E8"/>
                          </a:solidFill>
                        </a:rPr>
                        <a:t>November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D0D8E8"/>
                          </a:solidFill>
                        </a:rPr>
                        <a:t>38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D0D8E8"/>
                          </a:solidFill>
                        </a:rPr>
                        <a:t>28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D0D8E8"/>
                          </a:solidFill>
                        </a:rPr>
                        <a:t>17.8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D0D8E8"/>
                          </a:solidFill>
                        </a:rPr>
                        <a:t>15.9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D0D8E8"/>
                          </a:solidFill>
                        </a:rPr>
                        <a:t>25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D0D8E8"/>
                          </a:solidFill>
                        </a:rPr>
                        <a:t>30.9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D0D8E8"/>
                          </a:solidFill>
                        </a:rPr>
                        <a:t>27.5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D0D8E8"/>
                          </a:solidFill>
                        </a:rPr>
                        <a:t>12:00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>
                          <a:solidFill>
                            <a:srgbClr val="4CAF82"/>
                          </a:solidFill>
                        </a:rPr>
                        <a:t>✓ Fast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A0B0C8"/>
                          </a:solidFill>
                        </a:rPr>
                        <a:t>Hotel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A0B0C8"/>
                          </a:solidFill>
                        </a:rPr>
                        <a:t>55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A0B0C8"/>
                          </a:solidFill>
                        </a:rPr>
                        <a:t>43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A0B0C8"/>
                          </a:solidFill>
                        </a:rPr>
                        <a:t>18.4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A0B0C8"/>
                          </a:solidFill>
                        </a:rPr>
                        <a:t>13.6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A0B0C8"/>
                          </a:solidFill>
                        </a:rPr>
                        <a:t>38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A0B0C8"/>
                          </a:solidFill>
                        </a:rPr>
                        <a:t>49.3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A0B0C8"/>
                          </a:solidFill>
                        </a:rPr>
                        <a:t>35.7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A0B0C8"/>
                          </a:solidFill>
                        </a:rPr>
                        <a:t>15:00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>
                          <a:solidFill>
                            <a:srgbClr val="4CAF82"/>
                          </a:solidFill>
                        </a:rPr>
                        <a:t>✓ Fast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D0D8E8"/>
                          </a:solidFill>
                        </a:rPr>
                        <a:t>Mike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D0D8E8"/>
                          </a:solidFill>
                        </a:rPr>
                        <a:t>134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D0D8E8"/>
                          </a:solidFill>
                        </a:rPr>
                        <a:t>40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D0D8E8"/>
                          </a:solidFill>
                        </a:rPr>
                        <a:t>18.7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D0D8E8"/>
                          </a:solidFill>
                        </a:rPr>
                        <a:t>17.9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D0D8E8"/>
                          </a:solidFill>
                        </a:rPr>
                        <a:t>38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D0D8E8"/>
                          </a:solidFill>
                        </a:rPr>
                        <a:t>42.8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D0D8E8"/>
                          </a:solidFill>
                        </a:rPr>
                        <a:t>39.9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D0D8E8"/>
                          </a:solidFill>
                        </a:rPr>
                        <a:t>14:00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>
                          <a:solidFill>
                            <a:srgbClr val="4CAF82"/>
                          </a:solidFill>
                        </a:rPr>
                        <a:t>✓ Fast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A0B0C8"/>
                          </a:solidFill>
                        </a:rPr>
                        <a:t>Alfa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A0B0C8"/>
                          </a:solidFill>
                        </a:rPr>
                        <a:t>42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A0B0C8"/>
                          </a:solidFill>
                        </a:rPr>
                        <a:t>36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A0B0C8"/>
                          </a:solidFill>
                        </a:rPr>
                        <a:t>19.3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A0B0C8"/>
                          </a:solidFill>
                        </a:rPr>
                        <a:t>16.4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A0B0C8"/>
                          </a:solidFill>
                        </a:rPr>
                        <a:t>32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A0B0C8"/>
                          </a:solidFill>
                        </a:rPr>
                        <a:t>37.8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A0B0C8"/>
                          </a:solidFill>
                        </a:rPr>
                        <a:t>34.2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A0B0C8"/>
                          </a:solidFill>
                        </a:rPr>
                        <a:t>19:00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>
                          <a:solidFill>
                            <a:srgbClr val="4CAF82"/>
                          </a:solidFill>
                        </a:rPr>
                        <a:t>✓ Fast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A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D0D8E8"/>
                          </a:solidFill>
                        </a:rPr>
                        <a:t>Romeo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D0D8E8"/>
                          </a:solidFill>
                        </a:rPr>
                        <a:t>1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D0D8E8"/>
                          </a:solidFill>
                        </a:rPr>
                        <a:t>1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D0D8E8"/>
                          </a:solidFill>
                        </a:rPr>
                        <a:t>20.1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D0D8E8"/>
                          </a:solidFill>
                        </a:rPr>
                        <a:t>20.1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D0D8E8"/>
                          </a:solidFill>
                        </a:rPr>
                        <a:t>1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D0D8E8"/>
                          </a:solidFill>
                        </a:rPr>
                        <a:t>58.5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D0D8E8"/>
                          </a:solidFill>
                        </a:rPr>
                        <a:t>58.5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D0D8E8"/>
                          </a:solidFill>
                        </a:rPr>
                        <a:t>07:00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>
                          <a:solidFill>
                            <a:srgbClr val="E8A838"/>
                          </a:solidFill>
                        </a:rPr>
                        <a:t>~ Moderate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0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A0B0C8"/>
                          </a:solidFill>
                        </a:rPr>
                        <a:t>Papa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A0B0C8"/>
                          </a:solidFill>
                        </a:rPr>
                        <a:t>67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A0B0C8"/>
                          </a:solidFill>
                        </a:rPr>
                        <a:t>26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A0B0C8"/>
                          </a:solidFill>
                        </a:rPr>
                        <a:t>21.1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A0B0C8"/>
                          </a:solidFill>
                        </a:rPr>
                        <a:t>13.7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A0B0C8"/>
                          </a:solidFill>
                        </a:rPr>
                        <a:t>25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A0B0C8"/>
                          </a:solidFill>
                        </a:rPr>
                        <a:t>33.7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A0B0C8"/>
                          </a:solidFill>
                        </a:rPr>
                        <a:t>23.5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A0B0C8"/>
                          </a:solidFill>
                        </a:rPr>
                        <a:t>18:00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>
                          <a:solidFill>
                            <a:srgbClr val="E8A838"/>
                          </a:solidFill>
                        </a:rPr>
                        <a:t>~ Moderate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0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D0D8E8"/>
                          </a:solidFill>
                        </a:rPr>
                        <a:t>Tango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D0D8E8"/>
                          </a:solidFill>
                        </a:rPr>
                        <a:t>55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D0D8E8"/>
                          </a:solidFill>
                        </a:rPr>
                        <a:t>40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D0D8E8"/>
                          </a:solidFill>
                        </a:rPr>
                        <a:t>23.2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D0D8E8"/>
                          </a:solidFill>
                        </a:rPr>
                        <a:t>19.0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D0D8E8"/>
                          </a:solidFill>
                        </a:rPr>
                        <a:t>32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D0D8E8"/>
                          </a:solidFill>
                        </a:rPr>
                        <a:t>42.8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D0D8E8"/>
                          </a:solidFill>
                        </a:rPr>
                        <a:t>39.5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D0D8E8"/>
                          </a:solidFill>
                        </a:rPr>
                        <a:t>11:00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>
                          <a:solidFill>
                            <a:srgbClr val="E8A838"/>
                          </a:solidFill>
                        </a:rPr>
                        <a:t>~ Moderate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0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A0B0C8"/>
                          </a:solidFill>
                        </a:rPr>
                        <a:t>Victor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A0B0C8"/>
                          </a:solidFill>
                        </a:rPr>
                        <a:t>85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A0B0C8"/>
                          </a:solidFill>
                        </a:rPr>
                        <a:t>68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A0B0C8"/>
                          </a:solidFill>
                        </a:rPr>
                        <a:t>26.2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A0B0C8"/>
                          </a:solidFill>
                        </a:rPr>
                        <a:t>18.0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A0B0C8"/>
                          </a:solidFill>
                        </a:rPr>
                        <a:t>63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A0B0C8"/>
                          </a:solidFill>
                        </a:rPr>
                        <a:t>49.6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A0B0C8"/>
                          </a:solidFill>
                        </a:rPr>
                        <a:t>28.8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>
                          <a:solidFill>
                            <a:srgbClr val="A0B0C8"/>
                          </a:solidFill>
                        </a:rPr>
                        <a:t>13:00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50" b="1">
                          <a:solidFill>
                            <a:srgbClr val="E8A838"/>
                          </a:solidFill>
                        </a:rPr>
                        <a:t>~ Moderate</a:t>
                      </a:r>
                      <a:endParaRPr lang="en-US" sz="85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0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381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FA3"/>
                </a:solidFill>
              </a:rPr>
              <a:t>LMU Datathon 2026  |  Slide 3</a:t>
            </a:r>
            <a:endParaRPr lang="en-US" sz="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>
                <a:solidFill>
                  <a:srgbClr val="2E75B6"/>
                </a:solidFill>
              </a:rPr>
              <a:t>FLEET PERFORMANCE</a:t>
            </a:r>
            <a:endParaRPr lang="en-US" sz="900"/>
          </a:p>
        </p:txBody>
      </p:sp>
      <p:sp>
        <p:nvSpPr>
          <p:cNvPr id="3" name="Text 1"/>
          <p:cNvSpPr/>
          <p:nvPr/>
        </p:nvSpPr>
        <p:spPr>
          <a:xfrm>
            <a:off x="411480" y="36576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</a:rPr>
              <a:t>Response Time &amp; Time to Patient by Base (2/2)</a:t>
            </a:r>
            <a:endParaRPr lang="en-US" sz="2600"/>
          </a:p>
        </p:txBody>
      </p:sp>
      <p:sp>
        <p:nvSpPr>
          <p:cNvPr id="4" name="Text 2"/>
          <p:cNvSpPr/>
          <p:nvPr/>
        </p:nvSpPr>
        <p:spPr>
          <a:xfrm>
            <a:off x="411480" y="896112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FA3"/>
                </a:solidFill>
              </a:rPr>
              <a:t>Slow bases + fleet average</a:t>
            </a:r>
            <a:endParaRPr lang="en-US" sz="100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078992"/>
          <a:ext cx="7406640" cy="2258568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</a:rPr>
                        <a:t>Base</a:t>
                      </a:r>
                      <a:endParaRPr lang="en-US" sz="90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</a:rPr>
                        <a:t>Total Calls</a:t>
                      </a:r>
                      <a:endParaRPr lang="en-US" sz="90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</a:rPr>
                        <a:t>Calls w/ RT</a:t>
                      </a:r>
                      <a:endParaRPr lang="en-US" sz="90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</a:rPr>
                        <a:t>Avg Response (min)</a:t>
                      </a:r>
                      <a:endParaRPr lang="en-US" sz="90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</a:rPr>
                        <a:t>Median Response (min)</a:t>
                      </a:r>
                      <a:endParaRPr lang="en-US" sz="90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</a:rPr>
                        <a:t>Calls w/ TTP</a:t>
                      </a:r>
                      <a:endParaRPr lang="en-US" sz="90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</a:rPr>
                        <a:t>Avg Time to Patient (min)</a:t>
                      </a:r>
                      <a:endParaRPr lang="en-US" sz="90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</a:rPr>
                        <a:t>Median TTP (min)</a:t>
                      </a:r>
                      <a:endParaRPr lang="en-US" sz="90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</a:rPr>
                        <a:t>Peak Hour</a:t>
                      </a:r>
                      <a:endParaRPr lang="en-US" sz="90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</a:rPr>
                        <a:t>Performance Tier</a:t>
                      </a:r>
                      <a:endParaRPr lang="en-US" sz="90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D0D8E8"/>
                          </a:solidFill>
                        </a:rPr>
                        <a:t>Quebec</a:t>
                      </a:r>
                      <a:endParaRPr lang="en-US" sz="90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D0D8E8"/>
                          </a:solidFill>
                        </a:rPr>
                        <a:t>6</a:t>
                      </a:r>
                      <a:endParaRPr lang="en-US" sz="90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D0D8E8"/>
                          </a:solidFill>
                        </a:rPr>
                        <a:t>4</a:t>
                      </a:r>
                      <a:endParaRPr lang="en-US" sz="90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D0D8E8"/>
                          </a:solidFill>
                        </a:rPr>
                        <a:t>30.4</a:t>
                      </a:r>
                      <a:endParaRPr lang="en-US" sz="90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D0D8E8"/>
                          </a:solidFill>
                        </a:rPr>
                        <a:t>31.4</a:t>
                      </a:r>
                      <a:endParaRPr lang="en-US" sz="90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D0D8E8"/>
                          </a:solidFill>
                        </a:rPr>
                        <a:t>4</a:t>
                      </a:r>
                      <a:endParaRPr lang="en-US" sz="90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D0D8E8"/>
                          </a:solidFill>
                        </a:rPr>
                        <a:t>100.9</a:t>
                      </a:r>
                      <a:endParaRPr lang="en-US" sz="90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D0D8E8"/>
                          </a:solidFill>
                        </a:rPr>
                        <a:t>101.0</a:t>
                      </a:r>
                      <a:endParaRPr lang="en-US" sz="90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D0D8E8"/>
                          </a:solidFill>
                        </a:rPr>
                        <a:t>13:00</a:t>
                      </a:r>
                      <a:endParaRPr lang="en-US" sz="90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E85555"/>
                          </a:solidFill>
                        </a:rPr>
                        <a:t>✗ Slow</a:t>
                      </a:r>
                      <a:endParaRPr lang="en-US" sz="90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0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A0B0C8"/>
                          </a:solidFill>
                        </a:rPr>
                        <a:t>Golf</a:t>
                      </a:r>
                      <a:endParaRPr lang="en-US" sz="90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A0B0C8"/>
                          </a:solidFill>
                        </a:rPr>
                        <a:t>89</a:t>
                      </a:r>
                      <a:endParaRPr lang="en-US" sz="90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A0B0C8"/>
                          </a:solidFill>
                        </a:rPr>
                        <a:t>55</a:t>
                      </a:r>
                      <a:endParaRPr lang="en-US" sz="90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A0B0C8"/>
                          </a:solidFill>
                        </a:rPr>
                        <a:t>31.0</a:t>
                      </a:r>
                      <a:endParaRPr lang="en-US" sz="90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A0B0C8"/>
                          </a:solidFill>
                        </a:rPr>
                        <a:t>22.4</a:t>
                      </a:r>
                      <a:endParaRPr lang="en-US" sz="90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A0B0C8"/>
                          </a:solidFill>
                        </a:rPr>
                        <a:t>50</a:t>
                      </a:r>
                      <a:endParaRPr lang="en-US" sz="90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A0B0C8"/>
                          </a:solidFill>
                        </a:rPr>
                        <a:t>84.6</a:t>
                      </a:r>
                      <a:endParaRPr lang="en-US" sz="90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A0B0C8"/>
                          </a:solidFill>
                        </a:rPr>
                        <a:t>51.1</a:t>
                      </a:r>
                      <a:endParaRPr lang="en-US" sz="90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A0B0C8"/>
                          </a:solidFill>
                        </a:rPr>
                        <a:t>15:00</a:t>
                      </a:r>
                      <a:endParaRPr lang="en-US" sz="90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E85555"/>
                          </a:solidFill>
                        </a:rPr>
                        <a:t>✗ Slow</a:t>
                      </a:r>
                      <a:endParaRPr lang="en-US" sz="90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0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D0D8E8"/>
                          </a:solidFill>
                        </a:rPr>
                        <a:t>India</a:t>
                      </a:r>
                      <a:endParaRPr lang="en-US" sz="90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D0D8E8"/>
                          </a:solidFill>
                        </a:rPr>
                        <a:t>65</a:t>
                      </a:r>
                      <a:endParaRPr lang="en-US" sz="90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D0D8E8"/>
                          </a:solidFill>
                        </a:rPr>
                        <a:t>43</a:t>
                      </a:r>
                      <a:endParaRPr lang="en-US" sz="90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D0D8E8"/>
                          </a:solidFill>
                        </a:rPr>
                        <a:t>35.4</a:t>
                      </a:r>
                      <a:endParaRPr lang="en-US" sz="90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D0D8E8"/>
                          </a:solidFill>
                        </a:rPr>
                        <a:t>25.4</a:t>
                      </a:r>
                      <a:endParaRPr lang="en-US" sz="90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D0D8E8"/>
                          </a:solidFill>
                        </a:rPr>
                        <a:t>38</a:t>
                      </a:r>
                      <a:endParaRPr lang="en-US" sz="90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D0D8E8"/>
                          </a:solidFill>
                        </a:rPr>
                        <a:t>66.0</a:t>
                      </a:r>
                      <a:endParaRPr lang="en-US" sz="90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D0D8E8"/>
                          </a:solidFill>
                        </a:rPr>
                        <a:t>43.3</a:t>
                      </a:r>
                      <a:endParaRPr lang="en-US" sz="90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D0D8E8"/>
                          </a:solidFill>
                        </a:rPr>
                        <a:t>16:00</a:t>
                      </a:r>
                      <a:endParaRPr lang="en-US" sz="90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E85555"/>
                          </a:solidFill>
                        </a:rPr>
                        <a:t>✗ Slow</a:t>
                      </a:r>
                      <a:endParaRPr lang="en-US" sz="90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0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A0B0C8"/>
                          </a:solidFill>
                        </a:rPr>
                        <a:t>Sierra</a:t>
                      </a:r>
                      <a:endParaRPr lang="en-US" sz="90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A0B0C8"/>
                          </a:solidFill>
                        </a:rPr>
                        <a:t>46</a:t>
                      </a:r>
                      <a:endParaRPr lang="en-US" sz="90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A0B0C8"/>
                          </a:solidFill>
                        </a:rPr>
                        <a:t>36</a:t>
                      </a:r>
                      <a:endParaRPr lang="en-US" sz="90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A0B0C8"/>
                          </a:solidFill>
                        </a:rPr>
                        <a:t>40.4</a:t>
                      </a:r>
                      <a:endParaRPr lang="en-US" sz="90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A0B0C8"/>
                          </a:solidFill>
                        </a:rPr>
                        <a:t>39.7</a:t>
                      </a:r>
                      <a:endParaRPr lang="en-US" sz="90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A0B0C8"/>
                          </a:solidFill>
                        </a:rPr>
                        <a:t>11</a:t>
                      </a:r>
                      <a:endParaRPr lang="en-US" sz="90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A0B0C8"/>
                          </a:solidFill>
                        </a:rPr>
                        <a:t>35.0</a:t>
                      </a:r>
                      <a:endParaRPr lang="en-US" sz="90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A0B0C8"/>
                          </a:solidFill>
                        </a:rPr>
                        <a:t>32.9</a:t>
                      </a:r>
                      <a:endParaRPr lang="en-US" sz="90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A0B0C8"/>
                          </a:solidFill>
                        </a:rPr>
                        <a:t>12:00</a:t>
                      </a:r>
                      <a:endParaRPr lang="en-US" sz="90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E85555"/>
                          </a:solidFill>
                        </a:rPr>
                        <a:t>✗ Slow</a:t>
                      </a:r>
                      <a:endParaRPr lang="en-US" sz="90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0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D0D8E8"/>
                          </a:solidFill>
                        </a:rPr>
                        <a:t>Kilo</a:t>
                      </a:r>
                      <a:endParaRPr lang="en-US" sz="90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D0D8E8"/>
                          </a:solidFill>
                        </a:rPr>
                        <a:t>36</a:t>
                      </a:r>
                      <a:endParaRPr lang="en-US" sz="90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D0D8E8"/>
                          </a:solidFill>
                        </a:rPr>
                        <a:t>21</a:t>
                      </a:r>
                      <a:endParaRPr lang="en-US" sz="90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D0D8E8"/>
                          </a:solidFill>
                        </a:rPr>
                        <a:t>73.4</a:t>
                      </a:r>
                      <a:endParaRPr lang="en-US" sz="90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D0D8E8"/>
                          </a:solidFill>
                        </a:rPr>
                        <a:t>59.3</a:t>
                      </a:r>
                      <a:endParaRPr lang="en-US" sz="90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D0D8E8"/>
                          </a:solidFill>
                        </a:rPr>
                        <a:t>19</a:t>
                      </a:r>
                      <a:endParaRPr lang="en-US" sz="90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D0D8E8"/>
                          </a:solidFill>
                        </a:rPr>
                        <a:t>148.6</a:t>
                      </a:r>
                      <a:endParaRPr lang="en-US" sz="90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D0D8E8"/>
                          </a:solidFill>
                        </a:rPr>
                        <a:t>122.1</a:t>
                      </a:r>
                      <a:endParaRPr lang="en-US" sz="90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D0D8E8"/>
                          </a:solidFill>
                        </a:rPr>
                        <a:t>16:00</a:t>
                      </a:r>
                      <a:endParaRPr lang="en-US" sz="90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E85555"/>
                          </a:solidFill>
                        </a:rPr>
                        <a:t>✗ Slow</a:t>
                      </a:r>
                      <a:endParaRPr lang="en-US" sz="90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0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 grid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>
                          <a:solidFill>
                            <a:srgbClr val="C9A84C"/>
                          </a:solidFill>
                        </a:rPr>
                        <a:t>FLEET AVERAGE</a:t>
                      </a:r>
                      <a:endParaRPr lang="en-US" sz="90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/>
                    </a:p>
                  </a:txBody>
                  <a:tcPr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/>
                    </a:p>
                  </a:txBody>
                  <a:tcPr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C9A84C"/>
                          </a:solidFill>
                        </a:rPr>
                        <a:t>24.1</a:t>
                      </a:r>
                      <a:endParaRPr lang="en-US" sz="100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C9A84C"/>
                          </a:solidFill>
                        </a:rPr>
                        <a:t>19.9</a:t>
                      </a:r>
                      <a:endParaRPr lang="en-US" sz="100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900"/>
                    </a:p>
                  </a:txBody>
                  <a:tcPr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C9A84C"/>
                          </a:solidFill>
                        </a:rPr>
                        <a:t>49.4</a:t>
                      </a:r>
                      <a:endParaRPr lang="en-US" sz="100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>
                          <a:solidFill>
                            <a:srgbClr val="C9A84C"/>
                          </a:solidFill>
                        </a:rPr>
                        <a:t>40.9</a:t>
                      </a:r>
                      <a:endParaRPr lang="en-US" sz="1000"/>
                    </a:p>
                  </a:txBody>
                  <a:tcPr anchor="ctr">
                    <a:lnL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349300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FA3"/>
                </a:solidFill>
              </a:rPr>
              <a:t>Key insights — slow bases</a:t>
            </a:r>
            <a:endParaRPr lang="en-US" sz="1000"/>
          </a:p>
        </p:txBody>
      </p:sp>
      <p:sp>
        <p:nvSpPr>
          <p:cNvPr id="7" name="Shape 4"/>
          <p:cNvSpPr/>
          <p:nvPr/>
        </p:nvSpPr>
        <p:spPr>
          <a:xfrm>
            <a:off x="274320" y="3712464"/>
            <a:ext cx="2743200" cy="1188720"/>
          </a:xfrm>
          <a:prstGeom prst="rect">
            <a:avLst/>
          </a:prstGeom>
          <a:solidFill>
            <a:srgbClr val="3A1A1A"/>
          </a:solidFill>
          <a:ln w="12700">
            <a:solidFill>
              <a:srgbClr val="000000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274320" y="3712464"/>
            <a:ext cx="45720" cy="1188720"/>
          </a:xfrm>
          <a:prstGeom prst="rect">
            <a:avLst/>
          </a:prstGeom>
          <a:solidFill>
            <a:srgbClr val="C0392B"/>
          </a:solidFill>
          <a:ln w="12700">
            <a:solidFill>
              <a:srgbClr val="000000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11480" y="374904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C0392B"/>
                </a:solidFill>
              </a:rPr>
              <a:t>Kilo — structural problem</a:t>
            </a:r>
            <a:endParaRPr lang="en-US" sz="900"/>
          </a:p>
        </p:txBody>
      </p:sp>
      <p:sp>
        <p:nvSpPr>
          <p:cNvPr id="10" name="Text 7"/>
          <p:cNvSpPr/>
          <p:nvPr/>
        </p:nvSpPr>
        <p:spPr>
          <a:xfrm>
            <a:off x="411480" y="393192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>
                <a:solidFill>
                  <a:srgbClr val="D0D8E8"/>
                </a:solidFill>
              </a:rPr>
              <a:t>73.4 min avg is 3× fleet average. Reassignment analysis shows 111 min improvement available. Dispatch reform is the highest-ROI action.</a:t>
            </a:r>
            <a:endParaRPr lang="en-US" sz="900"/>
          </a:p>
        </p:txBody>
      </p:sp>
      <p:sp>
        <p:nvSpPr>
          <p:cNvPr id="11" name="Shape 8"/>
          <p:cNvSpPr/>
          <p:nvPr/>
        </p:nvSpPr>
        <p:spPr>
          <a:xfrm>
            <a:off x="3127248" y="3712464"/>
            <a:ext cx="2743200" cy="1188720"/>
          </a:xfrm>
          <a:prstGeom prst="rect">
            <a:avLst/>
          </a:prstGeom>
          <a:solidFill>
            <a:srgbClr val="2E1F08"/>
          </a:solidFill>
          <a:ln w="12700">
            <a:solidFill>
              <a:srgbClr val="000000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127248" y="3712464"/>
            <a:ext cx="45720" cy="1188720"/>
          </a:xfrm>
          <a:prstGeom prst="rect">
            <a:avLst/>
          </a:prstGeom>
          <a:solidFill>
            <a:srgbClr val="BA7517"/>
          </a:solidFill>
          <a:ln w="12700">
            <a:solidFill>
              <a:srgbClr val="000000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264408" y="374904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BA7517"/>
                </a:solidFill>
              </a:rPr>
              <a:t>Golf &amp; India — dispatch issue</a:t>
            </a:r>
            <a:endParaRPr lang="en-US" sz="900"/>
          </a:p>
        </p:txBody>
      </p:sp>
      <p:sp>
        <p:nvSpPr>
          <p:cNvPr id="14" name="Text 11"/>
          <p:cNvSpPr/>
          <p:nvPr/>
        </p:nvSpPr>
        <p:spPr>
          <a:xfrm>
            <a:off x="3264408" y="393192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>
                <a:solidFill>
                  <a:srgbClr val="D0D8E8"/>
                </a:solidFill>
              </a:rPr>
              <a:t>Golf (31 min avg) and India (35 min) show large mean-median gaps — occasional very long missions inflate averages. Route optimization saves 54 and 41 min respectively.</a:t>
            </a:r>
            <a:endParaRPr lang="en-US" sz="900"/>
          </a:p>
        </p:txBody>
      </p:sp>
      <p:sp>
        <p:nvSpPr>
          <p:cNvPr id="15" name="Shape 12"/>
          <p:cNvSpPr/>
          <p:nvPr/>
        </p:nvSpPr>
        <p:spPr>
          <a:xfrm>
            <a:off x="5980176" y="3712464"/>
            <a:ext cx="2743200" cy="1188720"/>
          </a:xfrm>
          <a:prstGeom prst="rect">
            <a:avLst/>
          </a:prstGeom>
          <a:solidFill>
            <a:srgbClr val="3A1A1A"/>
          </a:solidFill>
          <a:ln w="12700">
            <a:solidFill>
              <a:srgbClr val="000000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5980176" y="3712464"/>
            <a:ext cx="45720" cy="1188720"/>
          </a:xfrm>
          <a:prstGeom prst="rect">
            <a:avLst/>
          </a:prstGeom>
          <a:solidFill>
            <a:srgbClr val="E85555"/>
          </a:solidFill>
          <a:ln w="12700">
            <a:solidFill>
              <a:srgbClr val="000000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117336" y="374904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E85555"/>
                </a:solidFill>
              </a:rPr>
              <a:t>Quebec — geography + volume</a:t>
            </a:r>
            <a:endParaRPr lang="en-US" sz="900"/>
          </a:p>
        </p:txBody>
      </p:sp>
      <p:sp>
        <p:nvSpPr>
          <p:cNvPr id="18" name="Text 15"/>
          <p:cNvSpPr/>
          <p:nvPr/>
        </p:nvSpPr>
        <p:spPr>
          <a:xfrm>
            <a:off x="6117336" y="393192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>
                <a:solidFill>
                  <a:srgbClr val="D0D8E8"/>
                </a:solidFill>
              </a:rPr>
              <a:t>Smallest base (6 calls). 100.9 min avg time to patient driven entirely by extreme zone distance. MOU with nearest base is only viable fix.</a:t>
            </a:r>
            <a:endParaRPr lang="en-US" sz="900"/>
          </a:p>
        </p:txBody>
      </p:sp>
      <p:sp>
        <p:nvSpPr>
          <p:cNvPr id="19" name="Text 16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381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FA3"/>
                </a:solidFill>
              </a:rPr>
              <a:t>LMU Datathon 2026  |  Slide 4</a:t>
            </a:r>
            <a:endParaRPr lang="en-US"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>
                <a:solidFill>
                  <a:srgbClr val="2E75B6"/>
                </a:solidFill>
              </a:rPr>
              <a:t>OPERATIONS PERFORMANCE</a:t>
            </a:r>
            <a:endParaRPr lang="en-US" sz="900"/>
          </a:p>
        </p:txBody>
      </p:sp>
      <p:sp>
        <p:nvSpPr>
          <p:cNvPr id="3" name="Text 1"/>
          <p:cNvSpPr/>
          <p:nvPr/>
        </p:nvSpPr>
        <p:spPr>
          <a:xfrm>
            <a:off x="411480" y="36576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</a:rPr>
              <a:t>Response time &amp; utilisation by base</a:t>
            </a:r>
            <a:endParaRPr lang="en-US" sz="260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029968" cy="914400"/>
          </a:xfrm>
          <a:prstGeom prst="rect">
            <a:avLst/>
          </a:prstGeom>
          <a:solidFill>
            <a:srgbClr val="1A2840"/>
          </a:solidFill>
          <a:ln w="12700">
            <a:solidFill>
              <a:srgbClr val="000000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1115568"/>
            <a:ext cx="17556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FA3"/>
                </a:solidFill>
              </a:rPr>
              <a:t>fleet avg response</a:t>
            </a:r>
            <a:endParaRPr lang="en-US" sz="1000"/>
          </a:p>
        </p:txBody>
      </p:sp>
      <p:sp>
        <p:nvSpPr>
          <p:cNvPr id="6" name="Text 4"/>
          <p:cNvSpPr/>
          <p:nvPr/>
        </p:nvSpPr>
        <p:spPr>
          <a:xfrm>
            <a:off x="411480" y="1280160"/>
            <a:ext cx="17556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</a:rPr>
              <a:t>24.1 min</a:t>
            </a:r>
            <a:endParaRPr lang="en-US" sz="2200"/>
          </a:p>
        </p:txBody>
      </p:sp>
      <p:sp>
        <p:nvSpPr>
          <p:cNvPr id="7" name="Text 5"/>
          <p:cNvSpPr/>
          <p:nvPr/>
        </p:nvSpPr>
        <p:spPr>
          <a:xfrm>
            <a:off x="411480" y="1719072"/>
            <a:ext cx="17556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FA3"/>
                </a:solidFill>
              </a:rPr>
              <a:t>median 19.9 min</a:t>
            </a:r>
            <a:endParaRPr lang="en-US" sz="900"/>
          </a:p>
        </p:txBody>
      </p:sp>
      <p:sp>
        <p:nvSpPr>
          <p:cNvPr id="8" name="Shape 6"/>
          <p:cNvSpPr/>
          <p:nvPr/>
        </p:nvSpPr>
        <p:spPr>
          <a:xfrm>
            <a:off x="2450592" y="1005840"/>
            <a:ext cx="2029968" cy="914400"/>
          </a:xfrm>
          <a:prstGeom prst="rect">
            <a:avLst/>
          </a:prstGeom>
          <a:solidFill>
            <a:srgbClr val="1A2840"/>
          </a:solidFill>
          <a:ln w="12700">
            <a:solidFill>
              <a:srgbClr val="000000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87752" y="1115568"/>
            <a:ext cx="17556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FA3"/>
                </a:solidFill>
              </a:rPr>
              <a:t>avg time to patient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2587752" y="1280160"/>
            <a:ext cx="17556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</a:rPr>
              <a:t>44.8 min</a:t>
            </a:r>
            <a:endParaRPr lang="en-US" sz="2200"/>
          </a:p>
        </p:txBody>
      </p:sp>
      <p:sp>
        <p:nvSpPr>
          <p:cNvPr id="11" name="Text 9"/>
          <p:cNvSpPr/>
          <p:nvPr/>
        </p:nvSpPr>
        <p:spPr>
          <a:xfrm>
            <a:off x="2587752" y="1719072"/>
            <a:ext cx="17556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FA3"/>
                </a:solidFill>
              </a:rPr>
              <a:t>median 32.2 min</a:t>
            </a:r>
            <a:endParaRPr lang="en-US" sz="900"/>
          </a:p>
        </p:txBody>
      </p:sp>
      <p:sp>
        <p:nvSpPr>
          <p:cNvPr id="12" name="Shape 10"/>
          <p:cNvSpPr/>
          <p:nvPr/>
        </p:nvSpPr>
        <p:spPr>
          <a:xfrm>
            <a:off x="4626864" y="1005840"/>
            <a:ext cx="2029968" cy="914400"/>
          </a:xfrm>
          <a:prstGeom prst="rect">
            <a:avLst/>
          </a:prstGeom>
          <a:solidFill>
            <a:srgbClr val="3A1A1A"/>
          </a:solidFill>
          <a:ln w="12700">
            <a:solidFill>
              <a:srgbClr val="000000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64024" y="1115568"/>
            <a:ext cx="17556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FA3"/>
                </a:solidFill>
              </a:rPr>
              <a:t>slowest dispatch</a:t>
            </a:r>
            <a:endParaRPr lang="en-US" sz="1000"/>
          </a:p>
        </p:txBody>
      </p:sp>
      <p:sp>
        <p:nvSpPr>
          <p:cNvPr id="14" name="Text 12"/>
          <p:cNvSpPr/>
          <p:nvPr/>
        </p:nvSpPr>
        <p:spPr>
          <a:xfrm>
            <a:off x="4764024" y="1280160"/>
            <a:ext cx="17556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E85555"/>
                </a:solidFill>
              </a:rPr>
              <a:t>Kilo 73 min</a:t>
            </a:r>
            <a:endParaRPr lang="en-US" sz="2200"/>
          </a:p>
        </p:txBody>
      </p:sp>
      <p:sp>
        <p:nvSpPr>
          <p:cNvPr id="15" name="Text 13"/>
          <p:cNvSpPr/>
          <p:nvPr/>
        </p:nvSpPr>
        <p:spPr>
          <a:xfrm>
            <a:off x="4764024" y="1719072"/>
            <a:ext cx="17556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FA3"/>
                </a:solidFill>
              </a:rPr>
              <a:t>4× fleet average</a:t>
            </a:r>
            <a:endParaRPr lang="en-US" sz="900"/>
          </a:p>
        </p:txBody>
      </p:sp>
      <p:sp>
        <p:nvSpPr>
          <p:cNvPr id="16" name="Shape 14"/>
          <p:cNvSpPr/>
          <p:nvPr/>
        </p:nvSpPr>
        <p:spPr>
          <a:xfrm>
            <a:off x="6803136" y="1005840"/>
            <a:ext cx="2029968" cy="914400"/>
          </a:xfrm>
          <a:prstGeom prst="rect">
            <a:avLst/>
          </a:prstGeom>
          <a:solidFill>
            <a:srgbClr val="0F2E20"/>
          </a:solidFill>
          <a:ln w="12700">
            <a:solidFill>
              <a:srgbClr val="000000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940296" y="1115568"/>
            <a:ext cx="17556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FA3"/>
                </a:solidFill>
              </a:rPr>
              <a:t>fastest dispatch</a:t>
            </a:r>
            <a:endParaRPr lang="en-US" sz="1000"/>
          </a:p>
        </p:txBody>
      </p:sp>
      <p:sp>
        <p:nvSpPr>
          <p:cNvPr id="18" name="Text 16"/>
          <p:cNvSpPr/>
          <p:nvPr/>
        </p:nvSpPr>
        <p:spPr>
          <a:xfrm>
            <a:off x="6940296" y="1280160"/>
            <a:ext cx="17556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4CAF82"/>
                </a:solidFill>
              </a:rPr>
              <a:t>Echo 15.3 min</a:t>
            </a:r>
            <a:endParaRPr lang="en-US" sz="2200"/>
          </a:p>
        </p:txBody>
      </p:sp>
      <p:sp>
        <p:nvSpPr>
          <p:cNvPr id="19" name="Text 17"/>
          <p:cNvSpPr/>
          <p:nvPr/>
        </p:nvSpPr>
        <p:spPr>
          <a:xfrm>
            <a:off x="6940296" y="1719072"/>
            <a:ext cx="17556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FA3"/>
                </a:solidFill>
              </a:rPr>
              <a:t>well below average</a:t>
            </a:r>
            <a:endParaRPr lang="en-US" sz="900"/>
          </a:p>
        </p:txBody>
      </p:sp>
      <p:sp>
        <p:nvSpPr>
          <p:cNvPr id="20" name="Text 18"/>
          <p:cNvSpPr/>
          <p:nvPr/>
        </p:nvSpPr>
        <p:spPr>
          <a:xfrm>
            <a:off x="274320" y="2057400"/>
            <a:ext cx="4389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FA3"/>
                </a:solidFill>
              </a:rPr>
              <a:t>avg response time by base — annotated outliers</a:t>
            </a:r>
            <a:endParaRPr lang="en-US" sz="1000"/>
          </a:p>
        </p:txBody>
      </p:sp>
      <p:graphicFrame>
        <p:nvGraphicFramePr>
          <p:cNvPr id="21" name="Chart 0"/>
          <p:cNvGraphicFramePr/>
          <p:nvPr/>
        </p:nvGraphicFramePr>
        <p:xfrm>
          <a:off x="274320" y="2286000"/>
          <a:ext cx="438912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Text 19"/>
          <p:cNvSpPr/>
          <p:nvPr/>
        </p:nvSpPr>
        <p:spPr>
          <a:xfrm>
            <a:off x="4937760" y="205740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FA3"/>
                </a:solidFill>
              </a:rPr>
              <a:t>call volume by hour — peak window highlighted</a:t>
            </a:r>
            <a:endParaRPr lang="en-US" sz="1000"/>
          </a:p>
        </p:txBody>
      </p:sp>
      <p:graphicFrame>
        <p:nvGraphicFramePr>
          <p:cNvPr id="23" name="Chart 1"/>
          <p:cNvGraphicFramePr/>
          <p:nvPr/>
        </p:nvGraphicFramePr>
        <p:xfrm>
          <a:off x="4937760" y="2286000"/>
          <a:ext cx="3931920" cy="1508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4" name="Shape 20"/>
          <p:cNvSpPr/>
          <p:nvPr/>
        </p:nvSpPr>
        <p:spPr>
          <a:xfrm>
            <a:off x="4937760" y="3858768"/>
            <a:ext cx="3931920" cy="658368"/>
          </a:xfrm>
          <a:prstGeom prst="rect">
            <a:avLst/>
          </a:prstGeom>
          <a:solidFill>
            <a:srgbClr val="2E1F08"/>
          </a:solidFill>
          <a:ln w="12700">
            <a:solidFill>
              <a:srgbClr val="000000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4937760" y="3858768"/>
            <a:ext cx="45720" cy="658368"/>
          </a:xfrm>
          <a:prstGeom prst="rect">
            <a:avLst/>
          </a:prstGeom>
          <a:solidFill>
            <a:srgbClr val="C9A84C"/>
          </a:solidFill>
          <a:ln w="12700">
            <a:solidFill>
              <a:srgbClr val="000000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5102352" y="38953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>
                <a:solidFill>
                  <a:srgbClr val="C9A84C"/>
                </a:solidFill>
              </a:rPr>
              <a:t>MEAL BREAK COLLISION RISK</a:t>
            </a:r>
            <a:endParaRPr lang="en-US" sz="850"/>
          </a:p>
        </p:txBody>
      </p:sp>
      <p:sp>
        <p:nvSpPr>
          <p:cNvPr id="27" name="Text 23"/>
          <p:cNvSpPr/>
          <p:nvPr/>
        </p:nvSpPr>
        <p:spPr>
          <a:xfrm>
            <a:off x="5102352" y="4078224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>
                <a:solidFill>
                  <a:srgbClr val="D0D8E8"/>
                </a:solidFill>
              </a:rPr>
              <a:t>Peak call hours (12:00–20:00) account for </a:t>
            </a:r>
            <a:r>
              <a:rPr lang="en-US" sz="850" b="1">
                <a:solidFill>
                  <a:srgbClr val="FFFFFF"/>
                </a:solidFill>
              </a:rPr>
              <a:t>58%</a:t>
            </a:r>
            <a:r>
              <a:rPr lang="en-US" sz="850">
                <a:solidFill>
                  <a:srgbClr val="D0D8E8"/>
                </a:solidFill>
              </a:rPr>
              <a:t> of all calls. Mandatory 30-min breaks fall in this window for crews starting at 07:00.</a:t>
            </a:r>
            <a:endParaRPr lang="en-US" sz="850"/>
          </a:p>
        </p:txBody>
      </p:sp>
      <p:sp>
        <p:nvSpPr>
          <p:cNvPr id="28" name="Shape 24"/>
          <p:cNvSpPr/>
          <p:nvPr/>
        </p:nvSpPr>
        <p:spPr>
          <a:xfrm>
            <a:off x="4937760" y="4572000"/>
            <a:ext cx="3931920" cy="566928"/>
          </a:xfrm>
          <a:prstGeom prst="rect">
            <a:avLst/>
          </a:prstGeom>
          <a:solidFill>
            <a:srgbClr val="3A1A1A"/>
          </a:solidFill>
          <a:ln w="12700">
            <a:solidFill>
              <a:srgbClr val="000000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29" name="Shape 25"/>
          <p:cNvSpPr/>
          <p:nvPr/>
        </p:nvSpPr>
        <p:spPr>
          <a:xfrm>
            <a:off x="4937760" y="4572000"/>
            <a:ext cx="45720" cy="566928"/>
          </a:xfrm>
          <a:prstGeom prst="rect">
            <a:avLst/>
          </a:prstGeom>
          <a:solidFill>
            <a:srgbClr val="C0392B"/>
          </a:solidFill>
          <a:ln w="12700">
            <a:solidFill>
              <a:srgbClr val="000000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30" name="Text 26"/>
          <p:cNvSpPr/>
          <p:nvPr/>
        </p:nvSpPr>
        <p:spPr>
          <a:xfrm>
            <a:off x="5102352" y="46085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>
                <a:solidFill>
                  <a:srgbClr val="E85555"/>
                </a:solidFill>
              </a:rPr>
              <a:t>UTILISATION CEILING</a:t>
            </a:r>
            <a:endParaRPr lang="en-US" sz="850"/>
          </a:p>
        </p:txBody>
      </p:sp>
      <p:sp>
        <p:nvSpPr>
          <p:cNvPr id="31" name="Text 27"/>
          <p:cNvSpPr/>
          <p:nvPr/>
        </p:nvSpPr>
        <p:spPr>
          <a:xfrm>
            <a:off x="5102352" y="4773168"/>
            <a:ext cx="356616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b="1">
                <a:solidFill>
                  <a:srgbClr val="FFFFFF"/>
                </a:solidFill>
              </a:rPr>
              <a:t>Alfa (41%) and Kilo (41%)</a:t>
            </a:r>
            <a:r>
              <a:rPr lang="en-US" sz="850">
                <a:solidFill>
                  <a:srgbClr val="D0D8E8"/>
                </a:solidFill>
              </a:rPr>
              <a:t> are at the capacity threshold. A break without a relief crew would take both offline during peak hours.</a:t>
            </a:r>
            <a:endParaRPr lang="en-US" sz="850"/>
          </a:p>
        </p:txBody>
      </p:sp>
      <p:sp>
        <p:nvSpPr>
          <p:cNvPr id="32" name="Text 28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381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FA3"/>
                </a:solidFill>
              </a:rPr>
              <a:t>LMU Datathon 2026  |  Slide 5</a:t>
            </a:r>
            <a:endParaRPr lang="en-US"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>
                <a:solidFill>
                  <a:srgbClr val="2E75B6"/>
                </a:solidFill>
              </a:rPr>
              <a:t>FLEET OVERVIEW</a:t>
            </a:r>
            <a:endParaRPr lang="en-US" sz="900"/>
          </a:p>
        </p:txBody>
      </p:sp>
      <p:sp>
        <p:nvSpPr>
          <p:cNvPr id="3" name="Text 1"/>
          <p:cNvSpPr/>
          <p:nvPr/>
        </p:nvSpPr>
        <p:spPr>
          <a:xfrm>
            <a:off x="411480" y="36576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</a:rPr>
              <a:t>Response base network — California</a:t>
            </a:r>
            <a:endParaRPr lang="en-US" sz="2600"/>
          </a:p>
        </p:txBody>
      </p:sp>
      <p:sp>
        <p:nvSpPr>
          <p:cNvPr id="4" name="Text 2"/>
          <p:cNvSpPr/>
          <p:nvPr/>
        </p:nvSpPr>
        <p:spPr>
          <a:xfrm>
            <a:off x="411480" y="91440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B7FA3"/>
                </a:solidFill>
              </a:rPr>
              <a:t>Dot size = call volume  ·  Color = utilisation tier</a:t>
            </a:r>
            <a:endParaRPr lang="en-US" sz="1100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146304" cy="146304"/>
          </a:xfrm>
          <a:prstGeom prst="ellipse">
            <a:avLst/>
          </a:prstGeom>
          <a:solidFill>
            <a:srgbClr val="C0392B"/>
          </a:solidFill>
          <a:ln w="12700">
            <a:solidFill>
              <a:srgbClr val="000000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75488" y="1152144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D0D8E8"/>
                </a:solidFill>
              </a:rPr>
              <a:t>≥ 30% utilisation</a:t>
            </a:r>
            <a:endParaRPr lang="en-US" sz="950"/>
          </a:p>
        </p:txBody>
      </p:sp>
      <p:sp>
        <p:nvSpPr>
          <p:cNvPr id="7" name="Shape 5"/>
          <p:cNvSpPr/>
          <p:nvPr/>
        </p:nvSpPr>
        <p:spPr>
          <a:xfrm>
            <a:off x="2194560" y="1170432"/>
            <a:ext cx="146304" cy="146304"/>
          </a:xfrm>
          <a:prstGeom prst="ellipse">
            <a:avLst/>
          </a:prstGeom>
          <a:solidFill>
            <a:srgbClr val="BA7517"/>
          </a:solidFill>
          <a:ln w="12700">
            <a:solidFill>
              <a:srgbClr val="000000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395728" y="1152144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D0D8E8"/>
                </a:solidFill>
              </a:rPr>
              <a:t>24–30%</a:t>
            </a:r>
            <a:endParaRPr lang="en-US" sz="950"/>
          </a:p>
        </p:txBody>
      </p:sp>
      <p:sp>
        <p:nvSpPr>
          <p:cNvPr id="9" name="Shape 7"/>
          <p:cNvSpPr/>
          <p:nvPr/>
        </p:nvSpPr>
        <p:spPr>
          <a:xfrm>
            <a:off x="4114800" y="1170432"/>
            <a:ext cx="146304" cy="146304"/>
          </a:xfrm>
          <a:prstGeom prst="ellipse">
            <a:avLst/>
          </a:prstGeom>
          <a:solidFill>
            <a:srgbClr val="1D9E75"/>
          </a:solidFill>
          <a:ln w="12700">
            <a:solidFill>
              <a:srgbClr val="000000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315968" y="1152144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D0D8E8"/>
                </a:solidFill>
              </a:rPr>
              <a:t>&lt; 24%</a:t>
            </a:r>
            <a:endParaRPr lang="en-US" sz="950"/>
          </a:p>
        </p:txBody>
      </p:sp>
      <p:sp>
        <p:nvSpPr>
          <p:cNvPr id="11" name="Shape 9"/>
          <p:cNvSpPr/>
          <p:nvPr/>
        </p:nvSpPr>
        <p:spPr>
          <a:xfrm>
            <a:off x="274320" y="1389888"/>
            <a:ext cx="8595360" cy="3401568"/>
          </a:xfrm>
          <a:prstGeom prst="rect">
            <a:avLst/>
          </a:prstGeom>
          <a:solidFill>
            <a:srgbClr val="0A1525"/>
          </a:solidFill>
          <a:ln w="12700">
            <a:solidFill>
              <a:srgbClr val="000000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840480" y="265176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253A55"/>
                </a:solidFill>
              </a:rPr>
              <a:t>CALIFORNIA</a:t>
            </a:r>
            <a:endParaRPr lang="en-US" sz="900"/>
          </a:p>
        </p:txBody>
      </p:sp>
      <p:sp>
        <p:nvSpPr>
          <p:cNvPr id="13" name="Shape 11"/>
          <p:cNvSpPr/>
          <p:nvPr/>
        </p:nvSpPr>
        <p:spPr>
          <a:xfrm>
            <a:off x="3910636" y="2784050"/>
            <a:ext cx="487749" cy="487749"/>
          </a:xfrm>
          <a:prstGeom prst="ellipse">
            <a:avLst/>
          </a:prstGeom>
          <a:solidFill>
            <a:srgbClr val="1D9E75">
              <a:alpha val="22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008186" y="2881600"/>
            <a:ext cx="292650" cy="292650"/>
          </a:xfrm>
          <a:prstGeom prst="ellipse">
            <a:avLst/>
          </a:prstGeom>
          <a:solidFill>
            <a:srgbClr val="1D9E75"/>
          </a:solidFill>
          <a:ln w="6350">
            <a:solidFill>
              <a:srgbClr val="1D9E75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743031" y="2717008"/>
            <a:ext cx="822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DDDDDD"/>
                </a:solidFill>
              </a:rPr>
              <a:t>Lima</a:t>
            </a:r>
            <a:endParaRPr lang="en-US" sz="700"/>
          </a:p>
        </p:txBody>
      </p:sp>
      <p:sp>
        <p:nvSpPr>
          <p:cNvPr id="16" name="Shape 14"/>
          <p:cNvSpPr/>
          <p:nvPr/>
        </p:nvSpPr>
        <p:spPr>
          <a:xfrm>
            <a:off x="4345989" y="3105884"/>
            <a:ext cx="484765" cy="484765"/>
          </a:xfrm>
          <a:prstGeom prst="ellipse">
            <a:avLst/>
          </a:prstGeom>
          <a:solidFill>
            <a:srgbClr val="BA7517">
              <a:alpha val="22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442943" y="3202837"/>
            <a:ext cx="290859" cy="290859"/>
          </a:xfrm>
          <a:prstGeom prst="ellipse">
            <a:avLst/>
          </a:prstGeom>
          <a:solidFill>
            <a:srgbClr val="BA7517"/>
          </a:solidFill>
          <a:ln w="6350">
            <a:solidFill>
              <a:srgbClr val="BA7517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176892" y="3038245"/>
            <a:ext cx="822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DDDDDD"/>
                </a:solidFill>
              </a:rPr>
              <a:t>Foxtrot</a:t>
            </a:r>
            <a:endParaRPr lang="en-US" sz="700"/>
          </a:p>
        </p:txBody>
      </p:sp>
      <p:sp>
        <p:nvSpPr>
          <p:cNvPr id="19" name="Shape 17"/>
          <p:cNvSpPr/>
          <p:nvPr/>
        </p:nvSpPr>
        <p:spPr>
          <a:xfrm>
            <a:off x="4507079" y="3225164"/>
            <a:ext cx="424540" cy="424540"/>
          </a:xfrm>
          <a:prstGeom prst="ellipse">
            <a:avLst/>
          </a:prstGeom>
          <a:solidFill>
            <a:srgbClr val="C0392B">
              <a:alpha val="22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91987" y="3310072"/>
            <a:ext cx="254724" cy="254724"/>
          </a:xfrm>
          <a:prstGeom prst="ellipse">
            <a:avLst/>
          </a:prstGeom>
          <a:solidFill>
            <a:srgbClr val="C0392B"/>
          </a:solidFill>
          <a:ln w="6350">
            <a:solidFill>
              <a:srgbClr val="C0392B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307869" y="3145480"/>
            <a:ext cx="822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DDDDDD"/>
                </a:solidFill>
              </a:rPr>
              <a:t>Whiskey</a:t>
            </a:r>
            <a:endParaRPr lang="en-US" sz="700"/>
          </a:p>
        </p:txBody>
      </p:sp>
      <p:sp>
        <p:nvSpPr>
          <p:cNvPr id="22" name="Shape 20"/>
          <p:cNvSpPr/>
          <p:nvPr/>
        </p:nvSpPr>
        <p:spPr>
          <a:xfrm>
            <a:off x="6009637" y="3814214"/>
            <a:ext cx="415521" cy="415521"/>
          </a:xfrm>
          <a:prstGeom prst="ellipse">
            <a:avLst/>
          </a:prstGeom>
          <a:solidFill>
            <a:srgbClr val="BA7517">
              <a:alpha val="22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092741" y="3897319"/>
            <a:ext cx="249313" cy="249313"/>
          </a:xfrm>
          <a:prstGeom prst="ellipse">
            <a:avLst/>
          </a:prstGeom>
          <a:solidFill>
            <a:srgbClr val="BA7517"/>
          </a:solidFill>
          <a:ln w="6350">
            <a:solidFill>
              <a:srgbClr val="BA7517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805917" y="3732727"/>
            <a:ext cx="822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DDDDDD"/>
                </a:solidFill>
              </a:rPr>
              <a:t>Juliett</a:t>
            </a:r>
            <a:endParaRPr lang="en-US" sz="700"/>
          </a:p>
        </p:txBody>
      </p:sp>
      <p:sp>
        <p:nvSpPr>
          <p:cNvPr id="25" name="Shape 23"/>
          <p:cNvSpPr/>
          <p:nvPr/>
        </p:nvSpPr>
        <p:spPr>
          <a:xfrm>
            <a:off x="5407737" y="3737102"/>
            <a:ext cx="391412" cy="391412"/>
          </a:xfrm>
          <a:prstGeom prst="ellipse">
            <a:avLst/>
          </a:prstGeom>
          <a:solidFill>
            <a:srgbClr val="BA7517">
              <a:alpha val="22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486020" y="3815384"/>
            <a:ext cx="234847" cy="234847"/>
          </a:xfrm>
          <a:prstGeom prst="ellipse">
            <a:avLst/>
          </a:prstGeom>
          <a:solidFill>
            <a:srgbClr val="BA7517"/>
          </a:solidFill>
          <a:ln w="6350">
            <a:solidFill>
              <a:srgbClr val="BA7517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191963" y="3650792"/>
            <a:ext cx="822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DDDDDD"/>
                </a:solidFill>
              </a:rPr>
              <a:t>Mike</a:t>
            </a:r>
            <a:endParaRPr lang="en-US" sz="700"/>
          </a:p>
        </p:txBody>
      </p:sp>
      <p:sp>
        <p:nvSpPr>
          <p:cNvPr id="28" name="Shape 26"/>
          <p:cNvSpPr/>
          <p:nvPr/>
        </p:nvSpPr>
        <p:spPr>
          <a:xfrm>
            <a:off x="5453279" y="4065218"/>
            <a:ext cx="349444" cy="349444"/>
          </a:xfrm>
          <a:prstGeom prst="ellipse">
            <a:avLst/>
          </a:prstGeom>
          <a:solidFill>
            <a:srgbClr val="BA7517">
              <a:alpha val="22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523168" y="4135106"/>
            <a:ext cx="209666" cy="209666"/>
          </a:xfrm>
          <a:prstGeom prst="ellipse">
            <a:avLst/>
          </a:prstGeom>
          <a:solidFill>
            <a:srgbClr val="BA7517"/>
          </a:solidFill>
          <a:ln w="6350">
            <a:solidFill>
              <a:srgbClr val="BA7517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216521" y="3970514"/>
            <a:ext cx="822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DDDDDD"/>
                </a:solidFill>
              </a:rPr>
              <a:t>Golf</a:t>
            </a:r>
            <a:endParaRPr lang="en-US" sz="700"/>
          </a:p>
        </p:txBody>
      </p:sp>
      <p:sp>
        <p:nvSpPr>
          <p:cNvPr id="31" name="Shape 29"/>
          <p:cNvSpPr/>
          <p:nvPr/>
        </p:nvSpPr>
        <p:spPr>
          <a:xfrm>
            <a:off x="6445893" y="3780002"/>
            <a:ext cx="345242" cy="345242"/>
          </a:xfrm>
          <a:prstGeom prst="ellipse">
            <a:avLst/>
          </a:prstGeom>
          <a:solidFill>
            <a:srgbClr val="C0392B">
              <a:alpha val="22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514942" y="3849050"/>
            <a:ext cx="207145" cy="207145"/>
          </a:xfrm>
          <a:prstGeom prst="ellipse">
            <a:avLst/>
          </a:prstGeom>
          <a:solidFill>
            <a:srgbClr val="C0392B"/>
          </a:solidFill>
          <a:ln w="6350">
            <a:solidFill>
              <a:srgbClr val="C0392B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207034" y="3684458"/>
            <a:ext cx="822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DDDDDD"/>
                </a:solidFill>
              </a:rPr>
              <a:t>Victor</a:t>
            </a:r>
            <a:endParaRPr lang="en-US" sz="700"/>
          </a:p>
        </p:txBody>
      </p:sp>
      <p:sp>
        <p:nvSpPr>
          <p:cNvPr id="34" name="Shape 32"/>
          <p:cNvSpPr/>
          <p:nvPr/>
        </p:nvSpPr>
        <p:spPr>
          <a:xfrm>
            <a:off x="6456025" y="4173223"/>
            <a:ext cx="324978" cy="324978"/>
          </a:xfrm>
          <a:prstGeom prst="ellipse">
            <a:avLst/>
          </a:prstGeom>
          <a:solidFill>
            <a:srgbClr val="1D9E75">
              <a:alpha val="22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521021" y="4238218"/>
            <a:ext cx="194987" cy="194987"/>
          </a:xfrm>
          <a:prstGeom prst="ellipse">
            <a:avLst/>
          </a:prstGeom>
          <a:solidFill>
            <a:srgbClr val="1D9E75"/>
          </a:solidFill>
          <a:ln w="6350">
            <a:solidFill>
              <a:srgbClr val="1D9E75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207034" y="4073626"/>
            <a:ext cx="822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DDDDDD"/>
                </a:solidFill>
              </a:rPr>
              <a:t>Papa</a:t>
            </a:r>
            <a:endParaRPr lang="en-US" sz="700"/>
          </a:p>
        </p:txBody>
      </p:sp>
      <p:sp>
        <p:nvSpPr>
          <p:cNvPr id="37" name="Shape 35"/>
          <p:cNvSpPr/>
          <p:nvPr/>
        </p:nvSpPr>
        <p:spPr>
          <a:xfrm>
            <a:off x="6449045" y="4009304"/>
            <a:ext cx="322566" cy="322566"/>
          </a:xfrm>
          <a:prstGeom prst="ellipse">
            <a:avLst/>
          </a:prstGeom>
          <a:solidFill>
            <a:srgbClr val="1D9E75">
              <a:alpha val="22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513558" y="4073817"/>
            <a:ext cx="193540" cy="193540"/>
          </a:xfrm>
          <a:prstGeom prst="ellipse">
            <a:avLst/>
          </a:prstGeom>
          <a:solidFill>
            <a:srgbClr val="1D9E75"/>
          </a:solidFill>
          <a:ln w="6350">
            <a:solidFill>
              <a:srgbClr val="1D9E75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198848" y="3909225"/>
            <a:ext cx="822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DDDDDD"/>
                </a:solidFill>
              </a:rPr>
              <a:t>India</a:t>
            </a:r>
            <a:endParaRPr lang="en-US" sz="700"/>
          </a:p>
        </p:txBody>
      </p:sp>
      <p:sp>
        <p:nvSpPr>
          <p:cNvPr id="40" name="Shape 38"/>
          <p:cNvSpPr/>
          <p:nvPr/>
        </p:nvSpPr>
        <p:spPr>
          <a:xfrm>
            <a:off x="6364019" y="4347876"/>
            <a:ext cx="312526" cy="312526"/>
          </a:xfrm>
          <a:prstGeom prst="ellipse">
            <a:avLst/>
          </a:prstGeom>
          <a:solidFill>
            <a:srgbClr val="1D9E75">
              <a:alpha val="22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426524" y="4410381"/>
            <a:ext cx="187515" cy="187515"/>
          </a:xfrm>
          <a:prstGeom prst="ellipse">
            <a:avLst/>
          </a:prstGeom>
          <a:solidFill>
            <a:srgbClr val="1D9E75"/>
          </a:solidFill>
          <a:ln w="6350">
            <a:solidFill>
              <a:srgbClr val="1D9E75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108802" y="4245789"/>
            <a:ext cx="822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DDDDDD"/>
                </a:solidFill>
              </a:rPr>
              <a:t>Oscar</a:t>
            </a:r>
            <a:endParaRPr lang="en-US" sz="700"/>
          </a:p>
        </p:txBody>
      </p:sp>
      <p:sp>
        <p:nvSpPr>
          <p:cNvPr id="43" name="Shape 41"/>
          <p:cNvSpPr/>
          <p:nvPr/>
        </p:nvSpPr>
        <p:spPr>
          <a:xfrm>
            <a:off x="6406258" y="4217086"/>
            <a:ext cx="309907" cy="309907"/>
          </a:xfrm>
          <a:prstGeom prst="ellipse">
            <a:avLst/>
          </a:prstGeom>
          <a:solidFill>
            <a:srgbClr val="1D9E75">
              <a:alpha val="22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6468240" y="4279067"/>
            <a:ext cx="185944" cy="185944"/>
          </a:xfrm>
          <a:prstGeom prst="ellipse">
            <a:avLst/>
          </a:prstGeom>
          <a:solidFill>
            <a:srgbClr val="1D9E75"/>
          </a:solidFill>
          <a:ln w="6350">
            <a:solidFill>
              <a:srgbClr val="1D9E75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149732" y="4114475"/>
            <a:ext cx="822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DDDDDD"/>
                </a:solidFill>
              </a:rPr>
              <a:t>Hotel</a:t>
            </a:r>
            <a:endParaRPr lang="en-US" sz="700"/>
          </a:p>
        </p:txBody>
      </p:sp>
      <p:sp>
        <p:nvSpPr>
          <p:cNvPr id="46" name="Shape 44"/>
          <p:cNvSpPr/>
          <p:nvPr/>
        </p:nvSpPr>
        <p:spPr>
          <a:xfrm>
            <a:off x="7535934" y="4184061"/>
            <a:ext cx="309907" cy="309907"/>
          </a:xfrm>
          <a:prstGeom prst="ellipse">
            <a:avLst/>
          </a:prstGeom>
          <a:solidFill>
            <a:srgbClr val="1D9E75">
              <a:alpha val="22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7597916" y="4246042"/>
            <a:ext cx="185944" cy="185944"/>
          </a:xfrm>
          <a:prstGeom prst="ellipse">
            <a:avLst/>
          </a:prstGeom>
          <a:solidFill>
            <a:srgbClr val="1D9E75"/>
          </a:solidFill>
          <a:ln w="6350">
            <a:solidFill>
              <a:srgbClr val="1D9E75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7279408" y="4081450"/>
            <a:ext cx="822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DDDDDD"/>
                </a:solidFill>
              </a:rPr>
              <a:t>Tango</a:t>
            </a:r>
            <a:endParaRPr lang="en-US" sz="700"/>
          </a:p>
        </p:txBody>
      </p:sp>
      <p:sp>
        <p:nvSpPr>
          <p:cNvPr id="49" name="Shape 47"/>
          <p:cNvSpPr/>
          <p:nvPr/>
        </p:nvSpPr>
        <p:spPr>
          <a:xfrm>
            <a:off x="3440930" y="1805871"/>
            <a:ext cx="297487" cy="297487"/>
          </a:xfrm>
          <a:prstGeom prst="ellipse">
            <a:avLst/>
          </a:prstGeom>
          <a:solidFill>
            <a:srgbClr val="BA7517">
              <a:alpha val="22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3500427" y="1865368"/>
            <a:ext cx="178492" cy="178492"/>
          </a:xfrm>
          <a:prstGeom prst="ellipse">
            <a:avLst/>
          </a:prstGeom>
          <a:solidFill>
            <a:srgbClr val="BA7517"/>
          </a:solidFill>
          <a:ln w="6350">
            <a:solidFill>
              <a:srgbClr val="BA7517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3178193" y="1700776"/>
            <a:ext cx="822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DDDDDD"/>
                </a:solidFill>
              </a:rPr>
              <a:t>Sierra</a:t>
            </a:r>
            <a:endParaRPr lang="en-US" sz="700"/>
          </a:p>
        </p:txBody>
      </p:sp>
      <p:sp>
        <p:nvSpPr>
          <p:cNvPr id="52" name="Shape 50"/>
          <p:cNvSpPr/>
          <p:nvPr/>
        </p:nvSpPr>
        <p:spPr>
          <a:xfrm>
            <a:off x="3697652" y="1746078"/>
            <a:ext cx="291577" cy="291577"/>
          </a:xfrm>
          <a:prstGeom prst="ellipse">
            <a:avLst/>
          </a:prstGeom>
          <a:solidFill>
            <a:srgbClr val="C0392B">
              <a:alpha val="22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3755968" y="1804394"/>
            <a:ext cx="174946" cy="174946"/>
          </a:xfrm>
          <a:prstGeom prst="ellipse">
            <a:avLst/>
          </a:prstGeom>
          <a:solidFill>
            <a:srgbClr val="C0392B"/>
          </a:solidFill>
          <a:ln w="6350">
            <a:solidFill>
              <a:srgbClr val="C0392B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3431961" y="1639802"/>
            <a:ext cx="822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DDDDDD"/>
                </a:solidFill>
              </a:rPr>
              <a:t>Alfa</a:t>
            </a:r>
            <a:endParaRPr lang="en-US" sz="700"/>
          </a:p>
        </p:txBody>
      </p:sp>
      <p:sp>
        <p:nvSpPr>
          <p:cNvPr id="55" name="Shape 53"/>
          <p:cNvSpPr/>
          <p:nvPr/>
        </p:nvSpPr>
        <p:spPr>
          <a:xfrm>
            <a:off x="3813787" y="2923296"/>
            <a:ext cx="288517" cy="288517"/>
          </a:xfrm>
          <a:prstGeom prst="ellipse">
            <a:avLst/>
          </a:prstGeom>
          <a:solidFill>
            <a:srgbClr val="1D9E75">
              <a:alpha val="22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3871491" y="2980999"/>
            <a:ext cx="173110" cy="173110"/>
          </a:xfrm>
          <a:prstGeom prst="ellipse">
            <a:avLst/>
          </a:prstGeom>
          <a:solidFill>
            <a:srgbClr val="1D9E75"/>
          </a:solidFill>
          <a:ln w="6350">
            <a:solidFill>
              <a:srgbClr val="1D9E75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3546566" y="2816407"/>
            <a:ext cx="822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DDDDDD"/>
                </a:solidFill>
              </a:rPr>
              <a:t>Bravo</a:t>
            </a:r>
            <a:endParaRPr lang="en-US" sz="700"/>
          </a:p>
        </p:txBody>
      </p:sp>
      <p:sp>
        <p:nvSpPr>
          <p:cNvPr id="58" name="Shape 56"/>
          <p:cNvSpPr/>
          <p:nvPr/>
        </p:nvSpPr>
        <p:spPr>
          <a:xfrm>
            <a:off x="2137214" y="1518003"/>
            <a:ext cx="285379" cy="285379"/>
          </a:xfrm>
          <a:prstGeom prst="ellipse">
            <a:avLst/>
          </a:prstGeom>
          <a:solidFill>
            <a:srgbClr val="C0392B">
              <a:alpha val="22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2194290" y="1575079"/>
            <a:ext cx="171228" cy="171228"/>
          </a:xfrm>
          <a:prstGeom prst="ellipse">
            <a:avLst/>
          </a:prstGeom>
          <a:solidFill>
            <a:srgbClr val="C0392B"/>
          </a:solidFill>
          <a:ln w="6350">
            <a:solidFill>
              <a:srgbClr val="C0392B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1868424" y="1410487"/>
            <a:ext cx="822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DDDDDD"/>
                </a:solidFill>
              </a:rPr>
              <a:t>November</a:t>
            </a:r>
            <a:endParaRPr lang="en-US" sz="700"/>
          </a:p>
        </p:txBody>
      </p:sp>
      <p:sp>
        <p:nvSpPr>
          <p:cNvPr id="61" name="Shape 59"/>
          <p:cNvSpPr/>
          <p:nvPr/>
        </p:nvSpPr>
        <p:spPr>
          <a:xfrm>
            <a:off x="2384407" y="2665579"/>
            <a:ext cx="282158" cy="282158"/>
          </a:xfrm>
          <a:prstGeom prst="ellipse">
            <a:avLst/>
          </a:prstGeom>
          <a:solidFill>
            <a:srgbClr val="C0392B">
              <a:alpha val="22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2440838" y="2722010"/>
            <a:ext cx="169295" cy="169295"/>
          </a:xfrm>
          <a:prstGeom prst="ellipse">
            <a:avLst/>
          </a:prstGeom>
          <a:solidFill>
            <a:srgbClr val="C0392B"/>
          </a:solidFill>
          <a:ln w="6350">
            <a:solidFill>
              <a:srgbClr val="C0392B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2114006" y="2557418"/>
            <a:ext cx="822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DDDDDD"/>
                </a:solidFill>
              </a:rPr>
              <a:t>Kilo</a:t>
            </a:r>
            <a:endParaRPr lang="en-US" sz="700"/>
          </a:p>
        </p:txBody>
      </p:sp>
      <p:sp>
        <p:nvSpPr>
          <p:cNvPr id="64" name="Shape 62"/>
          <p:cNvSpPr/>
          <p:nvPr/>
        </p:nvSpPr>
        <p:spPr>
          <a:xfrm>
            <a:off x="2917142" y="3202805"/>
            <a:ext cx="264504" cy="264504"/>
          </a:xfrm>
          <a:prstGeom prst="ellipse">
            <a:avLst/>
          </a:prstGeom>
          <a:solidFill>
            <a:srgbClr val="1D9E75">
              <a:alpha val="22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2970042" y="3255705"/>
            <a:ext cx="158702" cy="158702"/>
          </a:xfrm>
          <a:prstGeom prst="ellipse">
            <a:avLst/>
          </a:prstGeom>
          <a:solidFill>
            <a:srgbClr val="1D9E75"/>
          </a:solidFill>
          <a:ln w="6350">
            <a:solidFill>
              <a:srgbClr val="1D9E75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2637913" y="3091113"/>
            <a:ext cx="822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DDDDDD"/>
                </a:solidFill>
              </a:rPr>
              <a:t>Echo</a:t>
            </a:r>
            <a:endParaRPr lang="en-US" sz="700"/>
          </a:p>
        </p:txBody>
      </p:sp>
      <p:sp>
        <p:nvSpPr>
          <p:cNvPr id="67" name="Shape 65"/>
          <p:cNvSpPr/>
          <p:nvPr/>
        </p:nvSpPr>
        <p:spPr>
          <a:xfrm>
            <a:off x="7788936" y="3950118"/>
            <a:ext cx="229579" cy="229579"/>
          </a:xfrm>
          <a:prstGeom prst="ellipse">
            <a:avLst/>
          </a:prstGeom>
          <a:solidFill>
            <a:srgbClr val="1D9E75">
              <a:alpha val="22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7834852" y="3996034"/>
            <a:ext cx="137747" cy="137747"/>
          </a:xfrm>
          <a:prstGeom prst="ellipse">
            <a:avLst/>
          </a:prstGeom>
          <a:solidFill>
            <a:srgbClr val="1D9E75"/>
          </a:solidFill>
          <a:ln w="6350">
            <a:solidFill>
              <a:srgbClr val="1D9E75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7492245" y="3831442"/>
            <a:ext cx="822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DDDDDD"/>
                </a:solidFill>
              </a:rPr>
              <a:t>Uniform</a:t>
            </a:r>
            <a:endParaRPr lang="en-US" sz="700"/>
          </a:p>
        </p:txBody>
      </p:sp>
      <p:sp>
        <p:nvSpPr>
          <p:cNvPr id="70" name="Shape 68"/>
          <p:cNvSpPr/>
          <p:nvPr/>
        </p:nvSpPr>
        <p:spPr>
          <a:xfrm>
            <a:off x="6635011" y="3935496"/>
            <a:ext cx="212588" cy="212588"/>
          </a:xfrm>
          <a:prstGeom prst="ellipse">
            <a:avLst/>
          </a:prstGeom>
          <a:solidFill>
            <a:srgbClr val="1D9E75">
              <a:alpha val="22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6677529" y="3978014"/>
            <a:ext cx="127553" cy="127553"/>
          </a:xfrm>
          <a:prstGeom prst="ellipse">
            <a:avLst/>
          </a:prstGeom>
          <a:solidFill>
            <a:srgbClr val="1D9E75"/>
          </a:solidFill>
          <a:ln w="6350">
            <a:solidFill>
              <a:srgbClr val="1D9E75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6329825" y="3813422"/>
            <a:ext cx="822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DDDDDD"/>
                </a:solidFill>
              </a:rPr>
              <a:t>Quebec</a:t>
            </a:r>
            <a:endParaRPr lang="en-US" sz="700"/>
          </a:p>
        </p:txBody>
      </p:sp>
      <p:sp>
        <p:nvSpPr>
          <p:cNvPr id="73" name="Shape 71"/>
          <p:cNvSpPr/>
          <p:nvPr/>
        </p:nvSpPr>
        <p:spPr>
          <a:xfrm>
            <a:off x="6362700" y="4441768"/>
            <a:ext cx="184186" cy="184186"/>
          </a:xfrm>
          <a:prstGeom prst="ellipse">
            <a:avLst/>
          </a:prstGeom>
          <a:solidFill>
            <a:srgbClr val="C0392B">
              <a:alpha val="22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6399537" y="4478606"/>
            <a:ext cx="110512" cy="110512"/>
          </a:xfrm>
          <a:prstGeom prst="ellipse">
            <a:avLst/>
          </a:prstGeom>
          <a:solidFill>
            <a:srgbClr val="C0392B"/>
          </a:solidFill>
          <a:ln w="6350">
            <a:solidFill>
              <a:srgbClr val="C0392B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6043313" y="4314014"/>
            <a:ext cx="822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>
                <a:solidFill>
                  <a:srgbClr val="DDDDDD"/>
                </a:solidFill>
              </a:rPr>
              <a:t>Romeo</a:t>
            </a:r>
            <a:endParaRPr lang="en-US" sz="700"/>
          </a:p>
        </p:txBody>
      </p:sp>
      <p:sp>
        <p:nvSpPr>
          <p:cNvPr id="76" name="Shape 74"/>
          <p:cNvSpPr/>
          <p:nvPr/>
        </p:nvSpPr>
        <p:spPr>
          <a:xfrm>
            <a:off x="274320" y="4846320"/>
            <a:ext cx="2743200" cy="566928"/>
          </a:xfrm>
          <a:prstGeom prst="rect">
            <a:avLst/>
          </a:prstGeom>
          <a:solidFill>
            <a:srgbClr val="3A1A1A"/>
          </a:solidFill>
          <a:ln w="12700">
            <a:solidFill>
              <a:srgbClr val="000000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274320" y="4846320"/>
            <a:ext cx="45720" cy="566928"/>
          </a:xfrm>
          <a:prstGeom prst="rect">
            <a:avLst/>
          </a:prstGeom>
          <a:solidFill>
            <a:srgbClr val="C0392B"/>
          </a:solidFill>
          <a:ln w="12700">
            <a:solidFill>
              <a:srgbClr val="000000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411480" y="4873752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C0392B"/>
                </a:solidFill>
              </a:rPr>
              <a:t>HIGH UTILISATION ≥30%</a:t>
            </a:r>
            <a:endParaRPr lang="en-US" sz="800"/>
          </a:p>
        </p:txBody>
      </p:sp>
      <p:sp>
        <p:nvSpPr>
          <p:cNvPr id="79" name="Text 77"/>
          <p:cNvSpPr/>
          <p:nvPr/>
        </p:nvSpPr>
        <p:spPr>
          <a:xfrm>
            <a:off x="411480" y="504748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D0D8E8"/>
                </a:solidFill>
              </a:rPr>
              <a:t>Alfa (41%), Kilo (41%), November (32%), Whiskey (32%), Victor (32%) — limited capacity for break coverage</a:t>
            </a:r>
            <a:endParaRPr lang="en-US" sz="800"/>
          </a:p>
        </p:txBody>
      </p:sp>
      <p:sp>
        <p:nvSpPr>
          <p:cNvPr id="80" name="Shape 78"/>
          <p:cNvSpPr/>
          <p:nvPr/>
        </p:nvSpPr>
        <p:spPr>
          <a:xfrm>
            <a:off x="3127248" y="4846320"/>
            <a:ext cx="2743200" cy="566928"/>
          </a:xfrm>
          <a:prstGeom prst="rect">
            <a:avLst/>
          </a:prstGeom>
          <a:solidFill>
            <a:srgbClr val="2E1F08"/>
          </a:solidFill>
          <a:ln w="12700">
            <a:solidFill>
              <a:srgbClr val="000000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3127248" y="4846320"/>
            <a:ext cx="45720" cy="566928"/>
          </a:xfrm>
          <a:prstGeom prst="rect">
            <a:avLst/>
          </a:prstGeom>
          <a:solidFill>
            <a:srgbClr val="C9A84C"/>
          </a:solidFill>
          <a:ln w="12700">
            <a:solidFill>
              <a:srgbClr val="000000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3264408" y="4873752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C9A84C"/>
                </a:solidFill>
              </a:rPr>
              <a:t>GEOGRAPHIC ISOLATION</a:t>
            </a:r>
            <a:endParaRPr lang="en-US" sz="800"/>
          </a:p>
        </p:txBody>
      </p:sp>
      <p:sp>
        <p:nvSpPr>
          <p:cNvPr id="83" name="Text 81"/>
          <p:cNvSpPr/>
          <p:nvPr/>
        </p:nvSpPr>
        <p:spPr>
          <a:xfrm>
            <a:off x="3264408" y="504748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D0D8E8"/>
                </a:solidFill>
              </a:rPr>
              <a:t>November, Alfa, Sierra — no neighbouring base within 45 min. Mutual aid MOU required.</a:t>
            </a:r>
            <a:endParaRPr lang="en-US" sz="800"/>
          </a:p>
        </p:txBody>
      </p:sp>
      <p:sp>
        <p:nvSpPr>
          <p:cNvPr id="84" name="Shape 82"/>
          <p:cNvSpPr/>
          <p:nvPr/>
        </p:nvSpPr>
        <p:spPr>
          <a:xfrm>
            <a:off x="5980176" y="4846320"/>
            <a:ext cx="2743200" cy="566928"/>
          </a:xfrm>
          <a:prstGeom prst="rect">
            <a:avLst/>
          </a:prstGeom>
          <a:solidFill>
            <a:srgbClr val="0A1E35"/>
          </a:solidFill>
          <a:ln w="12700">
            <a:solidFill>
              <a:srgbClr val="000000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5980176" y="4846320"/>
            <a:ext cx="45720" cy="566928"/>
          </a:xfrm>
          <a:prstGeom prst="rect">
            <a:avLst/>
          </a:prstGeom>
          <a:solidFill>
            <a:srgbClr val="2E75B6"/>
          </a:solidFill>
          <a:ln w="12700">
            <a:solidFill>
              <a:srgbClr val="000000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6117336" y="4873752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2E75B6"/>
                </a:solidFill>
              </a:rPr>
              <a:t>SOCAL CLUSTER</a:t>
            </a:r>
            <a:endParaRPr lang="en-US" sz="800"/>
          </a:p>
        </p:txBody>
      </p:sp>
      <p:sp>
        <p:nvSpPr>
          <p:cNvPr id="87" name="Text 85"/>
          <p:cNvSpPr/>
          <p:nvPr/>
        </p:nvSpPr>
        <p:spPr>
          <a:xfrm>
            <a:off x="6117336" y="504748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00">
                <a:solidFill>
                  <a:srgbClr val="D0D8E8"/>
                </a:solidFill>
              </a:rPr>
              <a:t>Golf, Papa, Oscar, Hotel, Tango, India — dense overlap enables cross-base staggered breaks</a:t>
            </a:r>
            <a:endParaRPr lang="en-US" sz="800"/>
          </a:p>
        </p:txBody>
      </p:sp>
      <p:sp>
        <p:nvSpPr>
          <p:cNvPr id="88" name="Text 86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381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FA3"/>
                </a:solidFill>
              </a:rPr>
              <a:t>LMU Datathon 2026  |  Slide 6</a:t>
            </a:r>
            <a:endParaRPr lang="en-US" sz="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>
                <a:solidFill>
                  <a:srgbClr val="2E75B6"/>
                </a:solidFill>
              </a:rPr>
              <a:t>WORKFORCE DEMAND</a:t>
            </a:r>
            <a:endParaRPr lang="en-US" sz="900"/>
          </a:p>
        </p:txBody>
      </p:sp>
      <p:sp>
        <p:nvSpPr>
          <p:cNvPr id="3" name="Text 1"/>
          <p:cNvSpPr/>
          <p:nvPr/>
        </p:nvSpPr>
        <p:spPr>
          <a:xfrm>
            <a:off x="411480" y="36576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</a:rPr>
              <a:t>Which bases are the busiest?</a:t>
            </a:r>
            <a:endParaRPr lang="en-US" sz="2600"/>
          </a:p>
        </p:txBody>
      </p:sp>
      <p:sp>
        <p:nvSpPr>
          <p:cNvPr id="4" name="Text 2"/>
          <p:cNvSpPr/>
          <p:nvPr/>
        </p:nvSpPr>
        <p:spPr>
          <a:xfrm>
            <a:off x="411480" y="91440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B7FA3"/>
                </a:solidFill>
              </a:rPr>
              <a:t>Call volume = who takes the most calls  ·  Utilisation = who has the least downtime between calls</a:t>
            </a:r>
            <a:endParaRPr lang="en-US" sz="1100"/>
          </a:p>
        </p:txBody>
      </p:sp>
      <p:sp>
        <p:nvSpPr>
          <p:cNvPr id="5" name="Shape 3"/>
          <p:cNvSpPr/>
          <p:nvPr/>
        </p:nvSpPr>
        <p:spPr>
          <a:xfrm>
            <a:off x="6217920" y="640080"/>
            <a:ext cx="128016" cy="128016"/>
          </a:xfrm>
          <a:prstGeom prst="rect">
            <a:avLst/>
          </a:prstGeom>
          <a:solidFill>
            <a:srgbClr val="C0392B"/>
          </a:solidFill>
          <a:ln w="12700">
            <a:solidFill>
              <a:srgbClr val="000000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373368" y="62179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D0D8E8"/>
                </a:solidFill>
              </a:rPr>
              <a:t>≥ 30% utilisation</a:t>
            </a:r>
            <a:endParaRPr lang="en-US" sz="850"/>
          </a:p>
        </p:txBody>
      </p:sp>
      <p:sp>
        <p:nvSpPr>
          <p:cNvPr id="7" name="Shape 5"/>
          <p:cNvSpPr/>
          <p:nvPr/>
        </p:nvSpPr>
        <p:spPr>
          <a:xfrm>
            <a:off x="7132320" y="640080"/>
            <a:ext cx="128016" cy="128016"/>
          </a:xfrm>
          <a:prstGeom prst="rect">
            <a:avLst/>
          </a:prstGeom>
          <a:solidFill>
            <a:srgbClr val="BA7517"/>
          </a:solidFill>
          <a:ln w="12700">
            <a:solidFill>
              <a:srgbClr val="000000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287768" y="62179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D0D8E8"/>
                </a:solidFill>
              </a:rPr>
              <a:t>24–30%</a:t>
            </a:r>
            <a:endParaRPr lang="en-US" sz="850"/>
          </a:p>
        </p:txBody>
      </p:sp>
      <p:sp>
        <p:nvSpPr>
          <p:cNvPr id="9" name="Shape 7"/>
          <p:cNvSpPr/>
          <p:nvPr/>
        </p:nvSpPr>
        <p:spPr>
          <a:xfrm>
            <a:off x="8046720" y="640080"/>
            <a:ext cx="128016" cy="128016"/>
          </a:xfrm>
          <a:prstGeom prst="rect">
            <a:avLst/>
          </a:prstGeom>
          <a:solidFill>
            <a:srgbClr val="1D9E75"/>
          </a:solidFill>
          <a:ln w="12700">
            <a:solidFill>
              <a:srgbClr val="000000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02168" y="62179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D0D8E8"/>
                </a:solidFill>
              </a:rPr>
              <a:t>&lt; 24%</a:t>
            </a:r>
            <a:endParaRPr lang="en-US" sz="850"/>
          </a:p>
        </p:txBody>
      </p:sp>
      <p:sp>
        <p:nvSpPr>
          <p:cNvPr id="11" name="Text 9"/>
          <p:cNvSpPr/>
          <p:nvPr/>
        </p:nvSpPr>
        <p:spPr>
          <a:xfrm>
            <a:off x="274320" y="1170432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>
                <a:solidFill>
                  <a:srgbClr val="2E75B6"/>
                </a:solidFill>
              </a:rPr>
              <a:t>CALL VOLUME — TOTAL CALLS BY BASE</a:t>
            </a:r>
            <a:endParaRPr lang="en-US" sz="850"/>
          </a:p>
        </p:txBody>
      </p:sp>
      <p:sp>
        <p:nvSpPr>
          <p:cNvPr id="12" name="Text 10"/>
          <p:cNvSpPr/>
          <p:nvPr/>
        </p:nvSpPr>
        <p:spPr>
          <a:xfrm>
            <a:off x="274320" y="1335024"/>
            <a:ext cx="42062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FA3"/>
                </a:solidFill>
              </a:rPr>
              <a:t>Bars colored by utilisation tier</a:t>
            </a:r>
            <a:endParaRPr lang="en-US" sz="900"/>
          </a:p>
        </p:txBody>
      </p:sp>
      <p:graphicFrame>
        <p:nvGraphicFramePr>
          <p:cNvPr id="13" name="Chart 0"/>
          <p:cNvGraphicFramePr/>
          <p:nvPr/>
        </p:nvGraphicFramePr>
        <p:xfrm>
          <a:off x="274320" y="1508760"/>
          <a:ext cx="4206240" cy="31272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Text 11"/>
          <p:cNvSpPr/>
          <p:nvPr/>
        </p:nvSpPr>
        <p:spPr>
          <a:xfrm>
            <a:off x="4709160" y="1170432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>
                <a:solidFill>
                  <a:srgbClr val="2E75B6"/>
                </a:solidFill>
              </a:rPr>
              <a:t>UTILISATION — % OF SHIFT TIME ON ACTIVE CALLS</a:t>
            </a:r>
            <a:endParaRPr lang="en-US" sz="850"/>
          </a:p>
        </p:txBody>
      </p:sp>
      <p:sp>
        <p:nvSpPr>
          <p:cNvPr id="15" name="Text 12"/>
          <p:cNvSpPr/>
          <p:nvPr/>
        </p:nvSpPr>
        <p:spPr>
          <a:xfrm>
            <a:off x="4709160" y="1335024"/>
            <a:ext cx="420624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FA3"/>
                </a:solidFill>
              </a:rPr>
              <a:t>Fleet avg 24.3% shown as dashed line</a:t>
            </a:r>
            <a:endParaRPr lang="en-US" sz="900"/>
          </a:p>
        </p:txBody>
      </p:sp>
      <p:graphicFrame>
        <p:nvGraphicFramePr>
          <p:cNvPr id="16" name="Chart 1"/>
          <p:cNvGraphicFramePr/>
          <p:nvPr/>
        </p:nvGraphicFramePr>
        <p:xfrm>
          <a:off x="4709160" y="1508760"/>
          <a:ext cx="4206240" cy="31272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7" name="Shape 13"/>
          <p:cNvSpPr/>
          <p:nvPr/>
        </p:nvSpPr>
        <p:spPr>
          <a:xfrm>
            <a:off x="274320" y="4700016"/>
            <a:ext cx="4206240" cy="713232"/>
          </a:xfrm>
          <a:prstGeom prst="rect">
            <a:avLst/>
          </a:prstGeom>
          <a:solidFill>
            <a:srgbClr val="0A1E35"/>
          </a:solidFill>
          <a:ln w="12700">
            <a:solidFill>
              <a:srgbClr val="000000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274320" y="4700016"/>
            <a:ext cx="45720" cy="713232"/>
          </a:xfrm>
          <a:prstGeom prst="rect">
            <a:avLst/>
          </a:prstGeom>
          <a:solidFill>
            <a:srgbClr val="2E75B6"/>
          </a:solidFill>
          <a:ln w="12700">
            <a:solidFill>
              <a:srgbClr val="000000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429768" y="4736592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2E75B6"/>
                </a:solidFill>
              </a:rPr>
              <a:t>BUSIEST BY CALL VOLUME</a:t>
            </a:r>
            <a:endParaRPr lang="en-US" sz="850"/>
          </a:p>
        </p:txBody>
      </p:sp>
      <p:sp>
        <p:nvSpPr>
          <p:cNvPr id="20" name="Text 16"/>
          <p:cNvSpPr/>
          <p:nvPr/>
        </p:nvSpPr>
        <p:spPr>
          <a:xfrm>
            <a:off x="429768" y="4901184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b="1">
                <a:solidFill>
                  <a:srgbClr val="FFFFFF"/>
                </a:solidFill>
              </a:rPr>
              <a:t>Lima (272)</a:t>
            </a:r>
            <a:r>
              <a:rPr lang="en-US" sz="900">
                <a:solidFill>
                  <a:srgbClr val="D0D8E8"/>
                </a:solidFill>
              </a:rPr>
              <a:t> and </a:t>
            </a:r>
            <a:r>
              <a:rPr lang="en-US" sz="900" b="1">
                <a:solidFill>
                  <a:srgbClr val="FFFFFF"/>
                </a:solidFill>
              </a:rPr>
              <a:t>Foxtrot (267)</a:t>
            </a:r>
            <a:r>
              <a:rPr lang="en-US" sz="900">
                <a:solidFill>
                  <a:srgbClr val="D0D8E8"/>
                </a:solidFill>
              </a:rPr>
              <a:t> together account for 36% of all calls — yet both sit below the fleet utilisation average. High volume ≠ high strain.</a:t>
            </a:r>
            <a:endParaRPr lang="en-US" sz="900"/>
          </a:p>
        </p:txBody>
      </p:sp>
      <p:sp>
        <p:nvSpPr>
          <p:cNvPr id="21" name="Shape 17"/>
          <p:cNvSpPr/>
          <p:nvPr/>
        </p:nvSpPr>
        <p:spPr>
          <a:xfrm>
            <a:off x="4709160" y="4700016"/>
            <a:ext cx="4206240" cy="713232"/>
          </a:xfrm>
          <a:prstGeom prst="rect">
            <a:avLst/>
          </a:prstGeom>
          <a:solidFill>
            <a:srgbClr val="1A0A0A"/>
          </a:solidFill>
          <a:ln w="12700">
            <a:solidFill>
              <a:srgbClr val="000000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4709160" y="4700016"/>
            <a:ext cx="45720" cy="713232"/>
          </a:xfrm>
          <a:prstGeom prst="rect">
            <a:avLst/>
          </a:prstGeom>
          <a:solidFill>
            <a:srgbClr val="C0392B"/>
          </a:solidFill>
          <a:ln w="12700">
            <a:solidFill>
              <a:srgbClr val="000000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4864608" y="4736592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E85555"/>
                </a:solidFill>
              </a:rPr>
              <a:t>BUSIEST BY UTILISATION — HIGHEST STRAIN</a:t>
            </a:r>
            <a:endParaRPr lang="en-US" sz="850"/>
          </a:p>
        </p:txBody>
      </p:sp>
      <p:sp>
        <p:nvSpPr>
          <p:cNvPr id="24" name="Text 20"/>
          <p:cNvSpPr/>
          <p:nvPr/>
        </p:nvSpPr>
        <p:spPr>
          <a:xfrm>
            <a:off x="4864608" y="4901184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b="1">
                <a:solidFill>
                  <a:srgbClr val="FFFFFF"/>
                </a:solidFill>
              </a:rPr>
              <a:t>Alfa (41%)</a:t>
            </a:r>
            <a:r>
              <a:rPr lang="en-US" sz="900">
                <a:solidFill>
                  <a:srgbClr val="D0D8E8"/>
                </a:solidFill>
              </a:rPr>
              <a:t> and </a:t>
            </a:r>
            <a:r>
              <a:rPr lang="en-US" sz="900" b="1">
                <a:solidFill>
                  <a:srgbClr val="FFFFFF"/>
                </a:solidFill>
              </a:rPr>
              <a:t>Kilo (41%)</a:t>
            </a:r>
            <a:r>
              <a:rPr lang="en-US" sz="900">
                <a:solidFill>
                  <a:srgbClr val="D0D8E8"/>
                </a:solidFill>
              </a:rPr>
              <a:t> operate near capacity ceiling despite moderate call counts. Combined with Kilo's 21% break violation rate, these are the highest-risk bases.</a:t>
            </a:r>
            <a:endParaRPr lang="en-US" sz="900"/>
          </a:p>
        </p:txBody>
      </p:sp>
      <p:sp>
        <p:nvSpPr>
          <p:cNvPr id="25" name="Text 21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381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FA3"/>
                </a:solidFill>
              </a:rPr>
              <a:t>LMU Datathon 2026  |  Slide 7</a:t>
            </a:r>
            <a:endParaRPr lang="en-US" sz="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>
                <a:solidFill>
                  <a:srgbClr val="2E75B6"/>
                </a:solidFill>
              </a:rPr>
              <a:t>MEAL BREAK COMPLIANCE</a:t>
            </a:r>
            <a:endParaRPr lang="en-US" sz="900"/>
          </a:p>
        </p:txBody>
      </p:sp>
      <p:sp>
        <p:nvSpPr>
          <p:cNvPr id="3" name="Text 1"/>
          <p:cNvSpPr/>
          <p:nvPr/>
        </p:nvSpPr>
        <p:spPr>
          <a:xfrm>
            <a:off x="411480" y="36576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</a:rPr>
              <a:t>Projected violations under proposed break schedule</a:t>
            </a:r>
            <a:endParaRPr lang="en-US" sz="2600"/>
          </a:p>
        </p:txBody>
      </p:sp>
      <p:sp>
        <p:nvSpPr>
          <p:cNvPr id="4" name="Text 2"/>
          <p:cNvSpPr/>
          <p:nvPr/>
        </p:nvSpPr>
        <p:spPr>
          <a:xfrm>
            <a:off x="411480" y="91440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6B7FA3"/>
                </a:solidFill>
              </a:rPr>
              <a:t>Assumes 'working' = actively on a call only</a:t>
            </a:r>
            <a:endParaRPr lang="en-US" sz="1100"/>
          </a:p>
        </p:txBody>
      </p:sp>
      <p:sp>
        <p:nvSpPr>
          <p:cNvPr id="5" name="Shape 3"/>
          <p:cNvSpPr/>
          <p:nvPr/>
        </p:nvSpPr>
        <p:spPr>
          <a:xfrm>
            <a:off x="3749040" y="987552"/>
            <a:ext cx="128016" cy="128016"/>
          </a:xfrm>
          <a:prstGeom prst="rect">
            <a:avLst/>
          </a:prstGeom>
          <a:solidFill>
            <a:srgbClr val="C0392B"/>
          </a:solidFill>
          <a:ln w="12700">
            <a:solidFill>
              <a:srgbClr val="000000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904488" y="969264"/>
            <a:ext cx="1143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D0D8E8"/>
                </a:solidFill>
              </a:rPr>
              <a:t>High &gt;10%</a:t>
            </a:r>
            <a:endParaRPr lang="en-US" sz="900"/>
          </a:p>
        </p:txBody>
      </p:sp>
      <p:sp>
        <p:nvSpPr>
          <p:cNvPr id="7" name="Shape 5"/>
          <p:cNvSpPr/>
          <p:nvPr/>
        </p:nvSpPr>
        <p:spPr>
          <a:xfrm>
            <a:off x="5029200" y="987552"/>
            <a:ext cx="128016" cy="128016"/>
          </a:xfrm>
          <a:prstGeom prst="rect">
            <a:avLst/>
          </a:prstGeom>
          <a:solidFill>
            <a:srgbClr val="BA7517"/>
          </a:solidFill>
          <a:ln w="12700">
            <a:solidFill>
              <a:srgbClr val="000000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184648" y="969264"/>
            <a:ext cx="1143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D0D8E8"/>
                </a:solidFill>
              </a:rPr>
              <a:t>Moderate 5-10%</a:t>
            </a:r>
            <a:endParaRPr lang="en-US" sz="900"/>
          </a:p>
        </p:txBody>
      </p:sp>
      <p:sp>
        <p:nvSpPr>
          <p:cNvPr id="9" name="Shape 7"/>
          <p:cNvSpPr/>
          <p:nvPr/>
        </p:nvSpPr>
        <p:spPr>
          <a:xfrm>
            <a:off x="6309360" y="987552"/>
            <a:ext cx="128016" cy="128016"/>
          </a:xfrm>
          <a:prstGeom prst="rect">
            <a:avLst/>
          </a:prstGeom>
          <a:solidFill>
            <a:srgbClr val="1D9E75"/>
          </a:solidFill>
          <a:ln w="12700">
            <a:solidFill>
              <a:srgbClr val="000000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64808" y="969264"/>
            <a:ext cx="1143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D0D8E8"/>
                </a:solidFill>
              </a:rPr>
              <a:t>Low &lt;5%</a:t>
            </a:r>
            <a:endParaRPr lang="en-US" sz="900"/>
          </a:p>
        </p:txBody>
      </p:sp>
      <p:sp>
        <p:nvSpPr>
          <p:cNvPr id="11" name="Shape 9"/>
          <p:cNvSpPr/>
          <p:nvPr/>
        </p:nvSpPr>
        <p:spPr>
          <a:xfrm>
            <a:off x="7589520" y="987552"/>
            <a:ext cx="128016" cy="128016"/>
          </a:xfrm>
          <a:prstGeom prst="rect">
            <a:avLst/>
          </a:prstGeom>
          <a:solidFill>
            <a:srgbClr val="3A3A3A"/>
          </a:solidFill>
          <a:ln w="12700">
            <a:solidFill>
              <a:srgbClr val="000000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744968" y="969264"/>
            <a:ext cx="1143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D0D8E8"/>
                </a:solidFill>
              </a:rPr>
              <a:t>Zero</a:t>
            </a:r>
            <a:endParaRPr lang="en-US" sz="900"/>
          </a:p>
        </p:txBody>
      </p:sp>
      <p:graphicFrame>
        <p:nvGraphicFramePr>
          <p:cNvPr id="13" name="Chart 0"/>
          <p:cNvGraphicFramePr/>
          <p:nvPr/>
        </p:nvGraphicFramePr>
        <p:xfrm>
          <a:off x="274320" y="1188720"/>
          <a:ext cx="4754880" cy="36758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Shape 11"/>
          <p:cNvSpPr/>
          <p:nvPr/>
        </p:nvSpPr>
        <p:spPr>
          <a:xfrm>
            <a:off x="5212080" y="1188720"/>
            <a:ext cx="1847088" cy="777240"/>
          </a:xfrm>
          <a:prstGeom prst="rect">
            <a:avLst/>
          </a:prstGeom>
          <a:solidFill>
            <a:srgbClr val="1A2840"/>
          </a:solidFill>
          <a:ln w="12700">
            <a:solidFill>
              <a:srgbClr val="000000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349240" y="1298448"/>
            <a:ext cx="15727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FA3"/>
                </a:solidFill>
              </a:rPr>
              <a:t>fleet violation rate</a:t>
            </a:r>
            <a:endParaRPr lang="en-US" sz="1000"/>
          </a:p>
        </p:txBody>
      </p:sp>
      <p:sp>
        <p:nvSpPr>
          <p:cNvPr id="16" name="Text 13"/>
          <p:cNvSpPr/>
          <p:nvPr/>
        </p:nvSpPr>
        <p:spPr>
          <a:xfrm>
            <a:off x="5349240" y="1463040"/>
            <a:ext cx="1572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</a:rPr>
              <a:t>7.4%</a:t>
            </a:r>
            <a:endParaRPr lang="en-US" sz="2200"/>
          </a:p>
        </p:txBody>
      </p:sp>
      <p:sp>
        <p:nvSpPr>
          <p:cNvPr id="17" name="Text 14"/>
          <p:cNvSpPr/>
          <p:nvPr/>
        </p:nvSpPr>
        <p:spPr>
          <a:xfrm>
            <a:off x="5349240" y="1901952"/>
            <a:ext cx="1572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FA3"/>
                </a:solidFill>
              </a:rPr>
              <a:t>407 of 5,472 windows</a:t>
            </a:r>
            <a:endParaRPr lang="en-US" sz="900"/>
          </a:p>
        </p:txBody>
      </p:sp>
      <p:sp>
        <p:nvSpPr>
          <p:cNvPr id="18" name="Shape 15"/>
          <p:cNvSpPr/>
          <p:nvPr/>
        </p:nvSpPr>
        <p:spPr>
          <a:xfrm>
            <a:off x="7132320" y="1188720"/>
            <a:ext cx="1719072" cy="777240"/>
          </a:xfrm>
          <a:prstGeom prst="rect">
            <a:avLst/>
          </a:prstGeom>
          <a:solidFill>
            <a:srgbClr val="3A1A1A"/>
          </a:solidFill>
          <a:ln w="12700">
            <a:solidFill>
              <a:srgbClr val="000000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7269480" y="1298448"/>
            <a:ext cx="14447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FA3"/>
                </a:solidFill>
              </a:rPr>
              <a:t>worst rate</a:t>
            </a:r>
            <a:endParaRPr lang="en-US" sz="1000"/>
          </a:p>
        </p:txBody>
      </p:sp>
      <p:sp>
        <p:nvSpPr>
          <p:cNvPr id="20" name="Text 17"/>
          <p:cNvSpPr/>
          <p:nvPr/>
        </p:nvSpPr>
        <p:spPr>
          <a:xfrm>
            <a:off x="7269480" y="1463040"/>
            <a:ext cx="14447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E85555"/>
                </a:solidFill>
              </a:rPr>
              <a:t>Kilo 21.4%</a:t>
            </a:r>
            <a:endParaRPr lang="en-US" sz="2200"/>
          </a:p>
        </p:txBody>
      </p:sp>
      <p:sp>
        <p:nvSpPr>
          <p:cNvPr id="21" name="Text 18"/>
          <p:cNvSpPr/>
          <p:nvPr/>
        </p:nvSpPr>
        <p:spPr>
          <a:xfrm>
            <a:off x="7269480" y="1901952"/>
            <a:ext cx="14447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FA3"/>
                </a:solidFill>
              </a:rPr>
              <a:t>1 in 5 windows violated</a:t>
            </a:r>
            <a:endParaRPr lang="en-US" sz="900"/>
          </a:p>
        </p:txBody>
      </p:sp>
      <p:sp>
        <p:nvSpPr>
          <p:cNvPr id="22" name="Shape 19"/>
          <p:cNvSpPr/>
          <p:nvPr/>
        </p:nvSpPr>
        <p:spPr>
          <a:xfrm>
            <a:off x="5212080" y="2029968"/>
            <a:ext cx="1847088" cy="777240"/>
          </a:xfrm>
          <a:prstGeom prst="rect">
            <a:avLst/>
          </a:prstGeom>
          <a:solidFill>
            <a:srgbClr val="3A1A1A"/>
          </a:solidFill>
          <a:ln w="12700">
            <a:solidFill>
              <a:srgbClr val="000000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5349240" y="2139696"/>
            <a:ext cx="15727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FA3"/>
                </a:solidFill>
              </a:rPr>
              <a:t>most absolute violations</a:t>
            </a:r>
            <a:endParaRPr lang="en-US" sz="1000"/>
          </a:p>
        </p:txBody>
      </p:sp>
      <p:sp>
        <p:nvSpPr>
          <p:cNvPr id="24" name="Text 21"/>
          <p:cNvSpPr/>
          <p:nvPr/>
        </p:nvSpPr>
        <p:spPr>
          <a:xfrm>
            <a:off x="5349240" y="2304288"/>
            <a:ext cx="1572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E85555"/>
                </a:solidFill>
              </a:rPr>
              <a:t>Foxtrot 65</a:t>
            </a:r>
            <a:endParaRPr lang="en-US" sz="2200"/>
          </a:p>
        </p:txBody>
      </p:sp>
      <p:sp>
        <p:nvSpPr>
          <p:cNvPr id="25" name="Text 22"/>
          <p:cNvSpPr/>
          <p:nvPr/>
        </p:nvSpPr>
        <p:spPr>
          <a:xfrm>
            <a:off x="5349240" y="2743200"/>
            <a:ext cx="1572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FA3"/>
                </a:solidFill>
              </a:rPr>
              <a:t>highest call volume base</a:t>
            </a:r>
            <a:endParaRPr lang="en-US" sz="900"/>
          </a:p>
        </p:txBody>
      </p:sp>
      <p:sp>
        <p:nvSpPr>
          <p:cNvPr id="26" name="Shape 23"/>
          <p:cNvSpPr/>
          <p:nvPr/>
        </p:nvSpPr>
        <p:spPr>
          <a:xfrm>
            <a:off x="7132320" y="2029968"/>
            <a:ext cx="1719072" cy="777240"/>
          </a:xfrm>
          <a:prstGeom prst="rect">
            <a:avLst/>
          </a:prstGeom>
          <a:solidFill>
            <a:srgbClr val="0F2E20"/>
          </a:solidFill>
          <a:ln w="12700">
            <a:solidFill>
              <a:srgbClr val="000000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7269480" y="2139696"/>
            <a:ext cx="14447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FA3"/>
                </a:solidFill>
              </a:rPr>
              <a:t>zero violations</a:t>
            </a:r>
            <a:endParaRPr lang="en-US" sz="1000"/>
          </a:p>
        </p:txBody>
      </p:sp>
      <p:sp>
        <p:nvSpPr>
          <p:cNvPr id="28" name="Text 25"/>
          <p:cNvSpPr/>
          <p:nvPr/>
        </p:nvSpPr>
        <p:spPr>
          <a:xfrm>
            <a:off x="7269480" y="2304288"/>
            <a:ext cx="14447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4CAF82"/>
                </a:solidFill>
              </a:rPr>
              <a:t>4 bases</a:t>
            </a:r>
            <a:endParaRPr lang="en-US" sz="2200"/>
          </a:p>
        </p:txBody>
      </p:sp>
      <p:sp>
        <p:nvSpPr>
          <p:cNvPr id="29" name="Text 26"/>
          <p:cNvSpPr/>
          <p:nvPr/>
        </p:nvSpPr>
        <p:spPr>
          <a:xfrm>
            <a:off x="7269480" y="2743200"/>
            <a:ext cx="14447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FA3"/>
                </a:solidFill>
              </a:rPr>
              <a:t>Echo · Bravo · Uniform · Romeo</a:t>
            </a:r>
            <a:endParaRPr lang="en-US" sz="900"/>
          </a:p>
        </p:txBody>
      </p:sp>
      <p:sp>
        <p:nvSpPr>
          <p:cNvPr id="30" name="Shape 27"/>
          <p:cNvSpPr/>
          <p:nvPr/>
        </p:nvSpPr>
        <p:spPr>
          <a:xfrm>
            <a:off x="5212080" y="2871216"/>
            <a:ext cx="3639312" cy="1170432"/>
          </a:xfrm>
          <a:prstGeom prst="rect">
            <a:avLst/>
          </a:prstGeom>
          <a:solidFill>
            <a:srgbClr val="1A2840"/>
          </a:solidFill>
          <a:ln w="12700">
            <a:solidFill>
              <a:srgbClr val="000000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31" name="Shape 28"/>
          <p:cNvSpPr/>
          <p:nvPr/>
        </p:nvSpPr>
        <p:spPr>
          <a:xfrm>
            <a:off x="5212080" y="2871216"/>
            <a:ext cx="45720" cy="1170432"/>
          </a:xfrm>
          <a:prstGeom prst="rect">
            <a:avLst/>
          </a:prstGeom>
          <a:solidFill>
            <a:srgbClr val="C0392B"/>
          </a:solidFill>
          <a:ln w="12700">
            <a:solidFill>
              <a:srgbClr val="000000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5376672" y="2907792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>
                <a:solidFill>
                  <a:srgbClr val="E85555"/>
                </a:solidFill>
              </a:rPr>
              <a:t>3 BASES EXCEED 10% THRESHOLD</a:t>
            </a:r>
            <a:endParaRPr lang="en-US" sz="850"/>
          </a:p>
        </p:txBody>
      </p:sp>
      <p:sp>
        <p:nvSpPr>
          <p:cNvPr id="33" name="Text 30"/>
          <p:cNvSpPr/>
          <p:nvPr/>
        </p:nvSpPr>
        <p:spPr>
          <a:xfrm>
            <a:off x="5376672" y="312724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</a:rPr>
              <a:t>Kilo</a:t>
            </a:r>
            <a:endParaRPr lang="en-US" sz="1000"/>
          </a:p>
        </p:txBody>
      </p:sp>
      <p:sp>
        <p:nvSpPr>
          <p:cNvPr id="34" name="Shape 31"/>
          <p:cNvSpPr/>
          <p:nvPr/>
        </p:nvSpPr>
        <p:spPr>
          <a:xfrm>
            <a:off x="6492240" y="3163824"/>
            <a:ext cx="1371600" cy="128016"/>
          </a:xfrm>
          <a:prstGeom prst="rect">
            <a:avLst/>
          </a:prstGeom>
          <a:solidFill>
            <a:srgbClr val="253A55"/>
          </a:solidFill>
          <a:ln w="12700">
            <a:solidFill>
              <a:srgbClr val="000000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35" name="Shape 32"/>
          <p:cNvSpPr/>
          <p:nvPr/>
        </p:nvSpPr>
        <p:spPr>
          <a:xfrm>
            <a:off x="6492240" y="3163824"/>
            <a:ext cx="1174090" cy="128016"/>
          </a:xfrm>
          <a:prstGeom prst="rect">
            <a:avLst/>
          </a:prstGeom>
          <a:solidFill>
            <a:srgbClr val="C0392B"/>
          </a:solidFill>
          <a:ln w="12700">
            <a:solidFill>
              <a:srgbClr val="000000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7955280" y="3127248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E85555"/>
                </a:solidFill>
              </a:rPr>
              <a:t>21.4%</a:t>
            </a:r>
            <a:endParaRPr lang="en-US" sz="1000"/>
          </a:p>
        </p:txBody>
      </p:sp>
      <p:sp>
        <p:nvSpPr>
          <p:cNvPr id="37" name="Text 34"/>
          <p:cNvSpPr/>
          <p:nvPr/>
        </p:nvSpPr>
        <p:spPr>
          <a:xfrm>
            <a:off x="5376672" y="340156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</a:rPr>
              <a:t>Whiskey</a:t>
            </a:r>
            <a:endParaRPr lang="en-US" sz="1000"/>
          </a:p>
        </p:txBody>
      </p:sp>
      <p:sp>
        <p:nvSpPr>
          <p:cNvPr id="38" name="Shape 35"/>
          <p:cNvSpPr/>
          <p:nvPr/>
        </p:nvSpPr>
        <p:spPr>
          <a:xfrm>
            <a:off x="6492240" y="3438144"/>
            <a:ext cx="1371600" cy="128016"/>
          </a:xfrm>
          <a:prstGeom prst="rect">
            <a:avLst/>
          </a:prstGeom>
          <a:solidFill>
            <a:srgbClr val="253A55"/>
          </a:solidFill>
          <a:ln w="12700">
            <a:solidFill>
              <a:srgbClr val="000000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39" name="Shape 36"/>
          <p:cNvSpPr/>
          <p:nvPr/>
        </p:nvSpPr>
        <p:spPr>
          <a:xfrm>
            <a:off x="6492240" y="3438144"/>
            <a:ext cx="696773" cy="128016"/>
          </a:xfrm>
          <a:prstGeom prst="rect">
            <a:avLst/>
          </a:prstGeom>
          <a:solidFill>
            <a:srgbClr val="C0392B"/>
          </a:solidFill>
          <a:ln w="12700">
            <a:solidFill>
              <a:srgbClr val="000000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7955280" y="3401568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E85555"/>
                </a:solidFill>
              </a:rPr>
              <a:t>12.7%</a:t>
            </a:r>
            <a:endParaRPr lang="en-US" sz="1000"/>
          </a:p>
        </p:txBody>
      </p:sp>
      <p:sp>
        <p:nvSpPr>
          <p:cNvPr id="41" name="Text 38"/>
          <p:cNvSpPr/>
          <p:nvPr/>
        </p:nvSpPr>
        <p:spPr>
          <a:xfrm>
            <a:off x="5376672" y="3675888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</a:rPr>
              <a:t>Juliett</a:t>
            </a:r>
            <a:endParaRPr lang="en-US" sz="1000"/>
          </a:p>
        </p:txBody>
      </p:sp>
      <p:sp>
        <p:nvSpPr>
          <p:cNvPr id="42" name="Shape 39"/>
          <p:cNvSpPr/>
          <p:nvPr/>
        </p:nvSpPr>
        <p:spPr>
          <a:xfrm>
            <a:off x="6492240" y="3712464"/>
            <a:ext cx="1371600" cy="128016"/>
          </a:xfrm>
          <a:prstGeom prst="rect">
            <a:avLst/>
          </a:prstGeom>
          <a:solidFill>
            <a:srgbClr val="253A55"/>
          </a:solidFill>
          <a:ln w="12700">
            <a:solidFill>
              <a:srgbClr val="000000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43" name="Shape 40"/>
          <p:cNvSpPr/>
          <p:nvPr/>
        </p:nvSpPr>
        <p:spPr>
          <a:xfrm>
            <a:off x="6492240" y="3712464"/>
            <a:ext cx="565099" cy="128016"/>
          </a:xfrm>
          <a:prstGeom prst="rect">
            <a:avLst/>
          </a:prstGeom>
          <a:solidFill>
            <a:srgbClr val="C0392B"/>
          </a:solidFill>
          <a:ln w="12700">
            <a:solidFill>
              <a:srgbClr val="000000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7955280" y="3675888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E85555"/>
                </a:solidFill>
              </a:rPr>
              <a:t>10.3%</a:t>
            </a:r>
            <a:endParaRPr lang="en-US" sz="1000"/>
          </a:p>
        </p:txBody>
      </p:sp>
      <p:sp>
        <p:nvSpPr>
          <p:cNvPr id="45" name="Shape 42"/>
          <p:cNvSpPr/>
          <p:nvPr/>
        </p:nvSpPr>
        <p:spPr>
          <a:xfrm>
            <a:off x="5212080" y="4096512"/>
            <a:ext cx="3639312" cy="768096"/>
          </a:xfrm>
          <a:prstGeom prst="rect">
            <a:avLst/>
          </a:prstGeom>
          <a:solidFill>
            <a:srgbClr val="2E1F08"/>
          </a:solidFill>
          <a:ln w="12700">
            <a:solidFill>
              <a:srgbClr val="000000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46" name="Shape 43"/>
          <p:cNvSpPr/>
          <p:nvPr/>
        </p:nvSpPr>
        <p:spPr>
          <a:xfrm>
            <a:off x="5212080" y="4096512"/>
            <a:ext cx="45720" cy="768096"/>
          </a:xfrm>
          <a:prstGeom prst="rect">
            <a:avLst/>
          </a:prstGeom>
          <a:solidFill>
            <a:srgbClr val="C9A84C"/>
          </a:solidFill>
          <a:ln w="12700">
            <a:solidFill>
              <a:srgbClr val="000000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47" name="Text 44"/>
          <p:cNvSpPr/>
          <p:nvPr/>
        </p:nvSpPr>
        <p:spPr>
          <a:xfrm>
            <a:off x="5376672" y="4133088"/>
            <a:ext cx="3291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C9A84C"/>
                </a:solidFill>
              </a:rPr>
              <a:t>NOTE ON METHODOLOGY</a:t>
            </a:r>
            <a:endParaRPr lang="en-US" sz="850"/>
          </a:p>
        </p:txBody>
      </p:sp>
      <p:sp>
        <p:nvSpPr>
          <p:cNvPr id="48" name="Text 45"/>
          <p:cNvSpPr/>
          <p:nvPr/>
        </p:nvSpPr>
        <p:spPr>
          <a:xfrm>
            <a:off x="5376672" y="4315968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>
                <a:solidFill>
                  <a:srgbClr val="D0D8E8"/>
                </a:solidFill>
              </a:rPr>
              <a:t>Rates shown assume nurses are 'working' only during active call responses. If regulators define work to include on-call standby time, </a:t>
            </a:r>
            <a:r>
              <a:rPr lang="en-US" sz="900" b="1">
                <a:solidFill>
                  <a:srgbClr val="FFFFFF"/>
                </a:solidFill>
              </a:rPr>
              <a:t>all rates would rise substantially</a:t>
            </a:r>
            <a:r>
              <a:rPr lang="en-US" sz="900">
                <a:solidFill>
                  <a:srgbClr val="D0D8E8"/>
                </a:solidFill>
              </a:rPr>
              <a:t> — several moderate-risk bases would cross into high-risk territory.</a:t>
            </a:r>
            <a:endParaRPr lang="en-US" sz="900"/>
          </a:p>
        </p:txBody>
      </p:sp>
      <p:sp>
        <p:nvSpPr>
          <p:cNvPr id="49" name="Text 46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381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FA3"/>
                </a:solidFill>
              </a:rPr>
              <a:t>LMU Datathon 2026  |  Slide 9</a:t>
            </a:r>
            <a:endParaRPr lang="en-US" sz="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>
                <a:solidFill>
                  <a:srgbClr val="2E75B6"/>
                </a:solidFill>
              </a:rPr>
              <a:t>DISPATCH OPTIMISATION</a:t>
            </a:r>
            <a:endParaRPr lang="en-US" sz="900"/>
          </a:p>
        </p:txBody>
      </p:sp>
      <p:sp>
        <p:nvSpPr>
          <p:cNvPr id="3" name="Text 1"/>
          <p:cNvSpPr/>
          <p:nvPr/>
        </p:nvSpPr>
        <p:spPr>
          <a:xfrm>
            <a:off x="411480" y="36576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</a:rPr>
              <a:t>How would response times change with optimal base reassignment?</a:t>
            </a:r>
            <a:endParaRPr lang="en-US" sz="220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029968" cy="777240"/>
          </a:xfrm>
          <a:prstGeom prst="rect">
            <a:avLst/>
          </a:prstGeom>
          <a:solidFill>
            <a:srgbClr val="0F2E20"/>
          </a:solidFill>
          <a:ln w="12700">
            <a:solidFill>
              <a:srgbClr val="000000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1024128"/>
            <a:ext cx="17556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FA3"/>
                </a:solidFill>
              </a:rPr>
              <a:t>bases that improve</a:t>
            </a:r>
            <a:endParaRPr lang="en-US" sz="1000"/>
          </a:p>
        </p:txBody>
      </p:sp>
      <p:sp>
        <p:nvSpPr>
          <p:cNvPr id="6" name="Text 4"/>
          <p:cNvSpPr/>
          <p:nvPr/>
        </p:nvSpPr>
        <p:spPr>
          <a:xfrm>
            <a:off x="411480" y="1188720"/>
            <a:ext cx="17556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4CAF82"/>
                </a:solidFill>
              </a:rPr>
              <a:t>13 of 21</a:t>
            </a:r>
            <a:endParaRPr lang="en-US" sz="2200"/>
          </a:p>
        </p:txBody>
      </p:sp>
      <p:sp>
        <p:nvSpPr>
          <p:cNvPr id="7" name="Text 5"/>
          <p:cNvSpPr/>
          <p:nvPr/>
        </p:nvSpPr>
        <p:spPr>
          <a:xfrm>
            <a:off x="411480" y="1627632"/>
            <a:ext cx="17556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FA3"/>
                </a:solidFill>
              </a:rPr>
              <a:t>faster with reassignment</a:t>
            </a:r>
            <a:endParaRPr lang="en-US" sz="900"/>
          </a:p>
        </p:txBody>
      </p:sp>
      <p:sp>
        <p:nvSpPr>
          <p:cNvPr id="8" name="Shape 6"/>
          <p:cNvSpPr/>
          <p:nvPr/>
        </p:nvSpPr>
        <p:spPr>
          <a:xfrm>
            <a:off x="2377440" y="914400"/>
            <a:ext cx="2029968" cy="777240"/>
          </a:xfrm>
          <a:prstGeom prst="rect">
            <a:avLst/>
          </a:prstGeom>
          <a:solidFill>
            <a:srgbClr val="0F2E20"/>
          </a:solidFill>
          <a:ln w="12700">
            <a:solidFill>
              <a:srgbClr val="000000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14600" y="1024128"/>
            <a:ext cx="17556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FA3"/>
                </a:solidFill>
              </a:rPr>
              <a:t>biggest gain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2514600" y="1188720"/>
            <a:ext cx="17556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4CAF82"/>
                </a:solidFill>
              </a:rPr>
              <a:t>Kilo −111 min</a:t>
            </a:r>
            <a:endParaRPr lang="en-US" sz="2200"/>
          </a:p>
        </p:txBody>
      </p:sp>
      <p:sp>
        <p:nvSpPr>
          <p:cNvPr id="11" name="Text 9"/>
          <p:cNvSpPr/>
          <p:nvPr/>
        </p:nvSpPr>
        <p:spPr>
          <a:xfrm>
            <a:off x="2514600" y="1627632"/>
            <a:ext cx="17556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FA3"/>
                </a:solidFill>
              </a:rPr>
              <a:t>149 min → 37 min</a:t>
            </a:r>
            <a:endParaRPr lang="en-US" sz="900"/>
          </a:p>
        </p:txBody>
      </p:sp>
      <p:sp>
        <p:nvSpPr>
          <p:cNvPr id="12" name="Shape 10"/>
          <p:cNvSpPr/>
          <p:nvPr/>
        </p:nvSpPr>
        <p:spPr>
          <a:xfrm>
            <a:off x="4480560" y="914400"/>
            <a:ext cx="2029968" cy="777240"/>
          </a:xfrm>
          <a:prstGeom prst="rect">
            <a:avLst/>
          </a:prstGeom>
          <a:solidFill>
            <a:srgbClr val="3A1A1A"/>
          </a:solidFill>
          <a:ln w="12700">
            <a:solidFill>
              <a:srgbClr val="000000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17720" y="1024128"/>
            <a:ext cx="17556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FA3"/>
                </a:solidFill>
              </a:rPr>
              <a:t>bases already optimal</a:t>
            </a:r>
            <a:endParaRPr lang="en-US" sz="1000"/>
          </a:p>
        </p:txBody>
      </p:sp>
      <p:sp>
        <p:nvSpPr>
          <p:cNvPr id="14" name="Text 12"/>
          <p:cNvSpPr/>
          <p:nvPr/>
        </p:nvSpPr>
        <p:spPr>
          <a:xfrm>
            <a:off x="4617720" y="1188720"/>
            <a:ext cx="17556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E85555"/>
                </a:solidFill>
              </a:rPr>
              <a:t>8 of 21</a:t>
            </a:r>
            <a:endParaRPr lang="en-US" sz="2200"/>
          </a:p>
        </p:txBody>
      </p:sp>
      <p:sp>
        <p:nvSpPr>
          <p:cNvPr id="15" name="Text 13"/>
          <p:cNvSpPr/>
          <p:nvPr/>
        </p:nvSpPr>
        <p:spPr>
          <a:xfrm>
            <a:off x="4617720" y="1627632"/>
            <a:ext cx="17556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FA3"/>
                </a:solidFill>
              </a:rPr>
              <a:t>reassignment would hurt</a:t>
            </a:r>
            <a:endParaRPr lang="en-US" sz="900"/>
          </a:p>
        </p:txBody>
      </p:sp>
      <p:sp>
        <p:nvSpPr>
          <p:cNvPr id="16" name="Shape 14"/>
          <p:cNvSpPr/>
          <p:nvPr/>
        </p:nvSpPr>
        <p:spPr>
          <a:xfrm>
            <a:off x="6583680" y="914400"/>
            <a:ext cx="2267712" cy="777240"/>
          </a:xfrm>
          <a:prstGeom prst="rect">
            <a:avLst/>
          </a:prstGeom>
          <a:solidFill>
            <a:srgbClr val="3A1A1A"/>
          </a:solidFill>
          <a:ln w="12700">
            <a:solidFill>
              <a:srgbClr val="000000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720840" y="1024128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B7FA3"/>
                </a:solidFill>
              </a:rPr>
              <a:t>biggest risk</a:t>
            </a:r>
            <a:endParaRPr lang="en-US" sz="1000"/>
          </a:p>
        </p:txBody>
      </p:sp>
      <p:sp>
        <p:nvSpPr>
          <p:cNvPr id="18" name="Text 16"/>
          <p:cNvSpPr/>
          <p:nvPr/>
        </p:nvSpPr>
        <p:spPr>
          <a:xfrm>
            <a:off x="6720840" y="1188720"/>
            <a:ext cx="19933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E85555"/>
                </a:solidFill>
              </a:rPr>
              <a:t>Nov. +42 min</a:t>
            </a:r>
            <a:endParaRPr lang="en-US" sz="2200"/>
          </a:p>
        </p:txBody>
      </p:sp>
      <p:sp>
        <p:nvSpPr>
          <p:cNvPr id="19" name="Text 17"/>
          <p:cNvSpPr/>
          <p:nvPr/>
        </p:nvSpPr>
        <p:spPr>
          <a:xfrm>
            <a:off x="6720840" y="1627632"/>
            <a:ext cx="19933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B7FA3"/>
                </a:solidFill>
              </a:rPr>
              <a:t>30 min → 72 min</a:t>
            </a:r>
            <a:endParaRPr lang="en-US" sz="900"/>
          </a:p>
        </p:txBody>
      </p:sp>
      <p:sp>
        <p:nvSpPr>
          <p:cNvPr id="20" name="Text 18"/>
          <p:cNvSpPr/>
          <p:nvPr/>
        </p:nvSpPr>
        <p:spPr>
          <a:xfrm>
            <a:off x="274320" y="1801368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B7FA3"/>
                </a:solidFill>
              </a:rPr>
              <a:t>change in response time if reassigned — teal saves time, red loses time</a:t>
            </a:r>
            <a:endParaRPr lang="en-US" sz="950"/>
          </a:p>
        </p:txBody>
      </p:sp>
      <p:graphicFrame>
        <p:nvGraphicFramePr>
          <p:cNvPr id="21" name="Chart 0"/>
          <p:cNvGraphicFramePr/>
          <p:nvPr/>
        </p:nvGraphicFramePr>
        <p:xfrm>
          <a:off x="274320" y="2011680"/>
          <a:ext cx="4572000" cy="2880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Text 19"/>
          <p:cNvSpPr/>
          <p:nvPr/>
        </p:nvSpPr>
        <p:spPr>
          <a:xfrm>
            <a:off x="5074920" y="1801368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6B7FA3"/>
                </a:solidFill>
              </a:rPr>
              <a:t>actual vs reassigned time — below the line = reassignment helps</a:t>
            </a:r>
            <a:endParaRPr lang="en-US" sz="950"/>
          </a:p>
        </p:txBody>
      </p:sp>
      <p:graphicFrame>
        <p:nvGraphicFramePr>
          <p:cNvPr id="23" name="Chart 1"/>
          <p:cNvGraphicFramePr/>
          <p:nvPr/>
        </p:nvGraphicFramePr>
        <p:xfrm>
          <a:off x="5074920" y="2011680"/>
          <a:ext cx="374904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4" name="Shape 20"/>
          <p:cNvSpPr/>
          <p:nvPr/>
        </p:nvSpPr>
        <p:spPr>
          <a:xfrm>
            <a:off x="5074920" y="4041648"/>
            <a:ext cx="3749040" cy="521208"/>
          </a:xfrm>
          <a:prstGeom prst="rect">
            <a:avLst/>
          </a:prstGeom>
          <a:solidFill>
            <a:srgbClr val="3A1A1A"/>
          </a:solidFill>
          <a:ln w="12700">
            <a:solidFill>
              <a:srgbClr val="000000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5074920" y="4041648"/>
            <a:ext cx="45720" cy="521208"/>
          </a:xfrm>
          <a:prstGeom prst="rect">
            <a:avLst/>
          </a:prstGeom>
          <a:solidFill>
            <a:srgbClr val="C0392B"/>
          </a:solidFill>
          <a:ln w="12700">
            <a:solidFill>
              <a:srgbClr val="000000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26" name="Text 22"/>
          <p:cNvSpPr/>
          <p:nvPr/>
        </p:nvSpPr>
        <p:spPr>
          <a:xfrm>
            <a:off x="5230368" y="4069080"/>
            <a:ext cx="3429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E85555"/>
                </a:solidFill>
              </a:rPr>
              <a:t>Priority action — chronic underperformers</a:t>
            </a:r>
            <a:endParaRPr lang="en-US" sz="850"/>
          </a:p>
        </p:txBody>
      </p:sp>
      <p:sp>
        <p:nvSpPr>
          <p:cNvPr id="27" name="Text 23"/>
          <p:cNvSpPr/>
          <p:nvPr/>
        </p:nvSpPr>
        <p:spPr>
          <a:xfrm>
            <a:off x="5230368" y="4233672"/>
            <a:ext cx="3429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>
                <a:solidFill>
                  <a:srgbClr val="D0D8E8"/>
                </a:solidFill>
              </a:rPr>
              <a:t>Kilo (−111 min), Quebec (−69 min), Golf (−54 min), and India (−41 min) represent the largest preventable delays. Each has a closer base available that dispatchers are not routing to.</a:t>
            </a:r>
            <a:endParaRPr lang="en-US" sz="900"/>
          </a:p>
        </p:txBody>
      </p:sp>
      <p:sp>
        <p:nvSpPr>
          <p:cNvPr id="28" name="Shape 24"/>
          <p:cNvSpPr/>
          <p:nvPr/>
        </p:nvSpPr>
        <p:spPr>
          <a:xfrm>
            <a:off x="5074920" y="4617720"/>
            <a:ext cx="3749040" cy="429768"/>
          </a:xfrm>
          <a:prstGeom prst="rect">
            <a:avLst/>
          </a:prstGeom>
          <a:solidFill>
            <a:srgbClr val="1A2840"/>
          </a:solidFill>
          <a:ln w="12700">
            <a:solidFill>
              <a:srgbClr val="000000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29" name="Shape 25"/>
          <p:cNvSpPr/>
          <p:nvPr/>
        </p:nvSpPr>
        <p:spPr>
          <a:xfrm>
            <a:off x="5074920" y="4617720"/>
            <a:ext cx="45720" cy="429768"/>
          </a:xfrm>
          <a:prstGeom prst="rect">
            <a:avLst/>
          </a:prstGeom>
          <a:solidFill>
            <a:srgbClr val="1D9E75"/>
          </a:solidFill>
          <a:ln w="12700">
            <a:solidFill>
              <a:srgbClr val="000000"/>
            </a:solidFill>
            <a:prstDash val="solid"/>
          </a:ln>
        </p:spPr>
        <p:txBody>
          <a:bodyPr wrap="square"/>
          <a:lstStyle/>
          <a:p>
            <a:endParaRPr lang="en-US"/>
          </a:p>
        </p:txBody>
      </p:sp>
      <p:sp>
        <p:nvSpPr>
          <p:cNvPr id="30" name="Text 26"/>
          <p:cNvSpPr/>
          <p:nvPr/>
        </p:nvSpPr>
        <p:spPr>
          <a:xfrm>
            <a:off x="5230368" y="4645152"/>
            <a:ext cx="3429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4CAF82"/>
                </a:solidFill>
              </a:rPr>
              <a:t>Dispatchers already optimal for these bases</a:t>
            </a:r>
            <a:endParaRPr lang="en-US" sz="850"/>
          </a:p>
        </p:txBody>
      </p:sp>
      <p:sp>
        <p:nvSpPr>
          <p:cNvPr id="31" name="Text 27"/>
          <p:cNvSpPr/>
          <p:nvPr/>
        </p:nvSpPr>
        <p:spPr>
          <a:xfrm>
            <a:off x="5230368" y="4809744"/>
            <a:ext cx="3429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>
                <a:solidFill>
                  <a:srgbClr val="D0D8E8"/>
                </a:solidFill>
              </a:rPr>
              <a:t>November, Echo, and Uniform would slow by 18–42 min with reassignment — confirming dispatchers are making the right call for these routes.</a:t>
            </a:r>
            <a:endParaRPr lang="en-US" sz="900"/>
          </a:p>
        </p:txBody>
      </p:sp>
      <p:sp>
        <p:nvSpPr>
          <p:cNvPr id="32" name="Text 28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lIns="0" tIns="0" rIns="381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FA3"/>
                </a:solidFill>
              </a:rPr>
              <a:t>LMU Datathon 2026  |  Slide 8</a:t>
            </a:r>
            <a:endParaRPr lang="en-US" sz="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F9ED2AE-DDE9-A88F-1859-AFD3901662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4431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1427</Words>
  <Application>Microsoft Office PowerPoint</Application>
  <PresentationFormat>On-screen Show (16:9)</PresentationFormat>
  <Paragraphs>416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Michael J. Johnson</cp:lastModifiedBy>
  <cp:revision>2</cp:revision>
  <dcterms:created xsi:type="dcterms:W3CDTF">2026-03-14T17:28:55Z</dcterms:created>
  <dcterms:modified xsi:type="dcterms:W3CDTF">2026-10-01T07:42:13Z</dcterms:modified>
</cp:coreProperties>
</file>